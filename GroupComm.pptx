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39" r:id="rId2"/>
    <p:sldId id="335" r:id="rId3"/>
    <p:sldId id="316" r:id="rId4"/>
    <p:sldId id="340" r:id="rId5"/>
    <p:sldId id="338" r:id="rId6"/>
    <p:sldId id="341" r:id="rId7"/>
    <p:sldId id="279" r:id="rId8"/>
    <p:sldId id="314" r:id="rId9"/>
    <p:sldId id="318" r:id="rId10"/>
    <p:sldId id="319" r:id="rId11"/>
    <p:sldId id="321" r:id="rId12"/>
    <p:sldId id="322" r:id="rId13"/>
    <p:sldId id="320" r:id="rId14"/>
    <p:sldId id="323" r:id="rId15"/>
    <p:sldId id="330" r:id="rId16"/>
    <p:sldId id="331" r:id="rId17"/>
    <p:sldId id="332" r:id="rId18"/>
    <p:sldId id="333" r:id="rId19"/>
    <p:sldId id="334" r:id="rId20"/>
    <p:sldId id="336" r:id="rId21"/>
    <p:sldId id="337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662" autoAdjust="0"/>
    <p:restoredTop sz="94660"/>
  </p:normalViewPr>
  <p:slideViewPr>
    <p:cSldViewPr snapToGrid="0">
      <p:cViewPr varScale="1">
        <p:scale>
          <a:sx n="74" d="100"/>
          <a:sy n="74" d="100"/>
        </p:scale>
        <p:origin x="75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77240-0F98-4911-A362-B0529349520C}" type="datetimeFigureOut">
              <a:rPr lang="en-IN" smtClean="0"/>
              <a:t>21-03-2022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94F9E-536C-4F02-A32D-6292253A77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32767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77240-0F98-4911-A362-B0529349520C}" type="datetimeFigureOut">
              <a:rPr lang="en-IN" smtClean="0"/>
              <a:t>21-03-2022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94F9E-536C-4F02-A32D-6292253A77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57833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77240-0F98-4911-A362-B0529349520C}" type="datetimeFigureOut">
              <a:rPr lang="en-IN" smtClean="0"/>
              <a:t>21-03-2022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94F9E-536C-4F02-A32D-6292253A77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25946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77240-0F98-4911-A362-B0529349520C}" type="datetimeFigureOut">
              <a:rPr lang="en-IN" smtClean="0"/>
              <a:t>21-03-2022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94F9E-536C-4F02-A32D-6292253A77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93515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77240-0F98-4911-A362-B0529349520C}" type="datetimeFigureOut">
              <a:rPr lang="en-IN" smtClean="0"/>
              <a:t>21-03-2022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94F9E-536C-4F02-A32D-6292253A77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73287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77240-0F98-4911-A362-B0529349520C}" type="datetimeFigureOut">
              <a:rPr lang="en-IN" smtClean="0"/>
              <a:t>21-03-2022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94F9E-536C-4F02-A32D-6292253A77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85935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77240-0F98-4911-A362-B0529349520C}" type="datetimeFigureOut">
              <a:rPr lang="en-IN" smtClean="0"/>
              <a:t>21-03-2022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94F9E-536C-4F02-A32D-6292253A77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71311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77240-0F98-4911-A362-B0529349520C}" type="datetimeFigureOut">
              <a:rPr lang="en-IN" smtClean="0"/>
              <a:t>21-03-2022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94F9E-536C-4F02-A32D-6292253A77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48952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77240-0F98-4911-A362-B0529349520C}" type="datetimeFigureOut">
              <a:rPr lang="en-IN" smtClean="0"/>
              <a:t>21-03-2022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94F9E-536C-4F02-A32D-6292253A77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10212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77240-0F98-4911-A362-B0529349520C}" type="datetimeFigureOut">
              <a:rPr lang="en-IN" smtClean="0"/>
              <a:t>21-03-2022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94F9E-536C-4F02-A32D-6292253A77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3772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77240-0F98-4911-A362-B0529349520C}" type="datetimeFigureOut">
              <a:rPr lang="en-IN" smtClean="0"/>
              <a:t>21-03-2022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94F9E-536C-4F02-A32D-6292253A77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82415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E77240-0F98-4911-A362-B0529349520C}" type="datetimeFigureOut">
              <a:rPr lang="en-IN" smtClean="0"/>
              <a:t>21-03-2022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394F9E-536C-4F02-A32D-6292253A77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47364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3570" y="2840685"/>
            <a:ext cx="5864860" cy="1176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20792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Platshållare för bildnumm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BBACA6D-AB4A-4753-AF4C-054B331C12F0}" type="slidenum">
              <a:rPr lang="en-US" altLang="en-US"/>
              <a:pPr/>
              <a:t>2</a:t>
            </a:fld>
            <a:endParaRPr lang="en-US" altLang="en-US"/>
          </a:p>
        </p:txBody>
      </p:sp>
      <p:sp>
        <p:nvSpPr>
          <p:cNvPr id="14340" name="Rectangle 4"/>
          <p:cNvSpPr>
            <a:spLocks noGrp="1" noChangeArrowheads="1"/>
          </p:cNvSpPr>
          <p:nvPr>
            <p:ph type="title"/>
          </p:nvPr>
        </p:nvSpPr>
        <p:spPr>
          <a:xfrm>
            <a:off x="1752600" y="307976"/>
            <a:ext cx="8686800" cy="1139825"/>
          </a:xfrm>
          <a:noFill/>
        </p:spPr>
        <p:txBody>
          <a:bodyPr>
            <a:normAutofit/>
          </a:bodyPr>
          <a:lstStyle/>
          <a:p>
            <a:pPr algn="ctr" eaLnBrk="1" hangingPunct="1"/>
            <a:r>
              <a:rPr lang="en-US" altLang="en-US" sz="3600" b="1" dirty="0" smtClean="0"/>
              <a:t>Different Comm. Methods</a:t>
            </a:r>
          </a:p>
        </p:txBody>
      </p:sp>
      <p:sp>
        <p:nvSpPr>
          <p:cNvPr id="14341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1545465" y="1600201"/>
            <a:ext cx="10084157" cy="4530725"/>
          </a:xfrm>
          <a:noFill/>
        </p:spPr>
        <p:txBody>
          <a:bodyPr>
            <a:normAutofit fontScale="92500" lnSpcReduction="10000"/>
          </a:bodyPr>
          <a:lstStyle/>
          <a:p>
            <a:pPr eaLnBrk="1" hangingPunct="1"/>
            <a:r>
              <a:rPr lang="en-US" altLang="en-US" b="1" dirty="0" smtClean="0"/>
              <a:t>Unicast</a:t>
            </a:r>
          </a:p>
          <a:p>
            <a:pPr marL="669925" lvl="1" indent="-325438"/>
            <a:r>
              <a:rPr lang="en-US" altLang="en-US" dirty="0" smtClean="0"/>
              <a:t>Point-to-Point Communication(p-2-p)</a:t>
            </a:r>
          </a:p>
          <a:p>
            <a:pPr marL="669925" lvl="1" indent="-325438"/>
            <a:r>
              <a:rPr lang="en-US" altLang="en-US" dirty="0" smtClean="0"/>
              <a:t>Multiple copies are sent.</a:t>
            </a:r>
          </a:p>
          <a:p>
            <a:pPr marL="669925" lvl="1" indent="-325438"/>
            <a:r>
              <a:rPr lang="en-US" altLang="en-US" dirty="0"/>
              <a:t>communication to a single process is known as unicast.</a:t>
            </a:r>
            <a:endParaRPr lang="en-US" altLang="en-US" dirty="0" smtClean="0"/>
          </a:p>
          <a:p>
            <a:pPr eaLnBrk="1" hangingPunct="1"/>
            <a:r>
              <a:rPr lang="en-US" altLang="en-US" b="1" dirty="0" smtClean="0"/>
              <a:t>Broadcast</a:t>
            </a:r>
          </a:p>
          <a:p>
            <a:pPr marL="669925" lvl="1" indent="-325438" algn="just"/>
            <a:r>
              <a:rPr lang="en-US" altLang="en-US" dirty="0" smtClean="0"/>
              <a:t>One-to-All Communication</a:t>
            </a:r>
          </a:p>
          <a:p>
            <a:pPr marL="669925" lvl="1" indent="-325438" algn="just"/>
            <a:r>
              <a:rPr lang="en-US" altLang="en-US" dirty="0" smtClean="0"/>
              <a:t>Communication </a:t>
            </a:r>
            <a:r>
              <a:rPr lang="en-US" altLang="en-US" dirty="0"/>
              <a:t>to all processes in the system, as opposed to a subgroup of them, is known as broadcast</a:t>
            </a:r>
            <a:endParaRPr lang="en-US" altLang="en-US" dirty="0" smtClean="0"/>
          </a:p>
          <a:p>
            <a:pPr eaLnBrk="1" hangingPunct="1"/>
            <a:r>
              <a:rPr lang="en-US" altLang="en-US" b="1" dirty="0" smtClean="0"/>
              <a:t>Multicast</a:t>
            </a:r>
          </a:p>
          <a:p>
            <a:pPr marL="669925" lvl="1" indent="-325438"/>
            <a:r>
              <a:rPr lang="en-US" altLang="en-US" dirty="0" smtClean="0"/>
              <a:t>One-to-multiple Communication</a:t>
            </a:r>
          </a:p>
          <a:p>
            <a:pPr marL="669925" lvl="1" indent="-325438" algn="just"/>
            <a:r>
              <a:rPr lang="en-US" altLang="en-US" dirty="0"/>
              <a:t>multicast communication, in which a message is sent to all the members of the group by a single operation.</a:t>
            </a:r>
            <a:endParaRPr lang="en-US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23636392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Platshållare för bildnumm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019C9B6-FFB9-4556-A813-DEC739937DE6}" type="slidenum">
              <a:rPr lang="en-US" altLang="en-US"/>
              <a:pPr/>
              <a:t>3</a:t>
            </a:fld>
            <a:endParaRPr lang="en-US" altLang="en-US"/>
          </a:p>
        </p:txBody>
      </p:sp>
      <p:sp>
        <p:nvSpPr>
          <p:cNvPr id="11268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15240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b="1" dirty="0" smtClean="0">
                <a:latin typeface="+mn-lt"/>
              </a:rPr>
              <a:t>Group communication</a:t>
            </a:r>
          </a:p>
        </p:txBody>
      </p:sp>
      <p:sp>
        <p:nvSpPr>
          <p:cNvPr id="1126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41797" y="1082676"/>
            <a:ext cx="10908406" cy="5273674"/>
          </a:xfrm>
        </p:spPr>
        <p:txBody>
          <a:bodyPr>
            <a:normAutofit/>
          </a:bodyPr>
          <a:lstStyle/>
          <a:p>
            <a:r>
              <a:rPr lang="en-US" altLang="en-US" dirty="0"/>
              <a:t> Group communication is concerned with the delivery of messages to a </a:t>
            </a:r>
            <a:r>
              <a:rPr lang="en-US" altLang="en-US" b="1" dirty="0"/>
              <a:t>set of recipients </a:t>
            </a:r>
            <a:r>
              <a:rPr lang="en-US" altLang="en-US" dirty="0"/>
              <a:t>and hence is a multiparty communication paradigm supporting one-to-many communication. </a:t>
            </a:r>
            <a:r>
              <a:rPr lang="en-US" altLang="en-US" dirty="0" smtClean="0"/>
              <a:t/>
            </a:r>
            <a:br>
              <a:rPr lang="en-US" altLang="en-US" dirty="0" smtClean="0"/>
            </a:br>
            <a:endParaRPr lang="en-US" altLang="en-US" dirty="0" smtClean="0"/>
          </a:p>
          <a:p>
            <a:pPr algn="just"/>
            <a:r>
              <a:rPr lang="en-US" altLang="en-US" dirty="0"/>
              <a:t>The essential feature of group communication is that a process issues </a:t>
            </a:r>
            <a:r>
              <a:rPr lang="en-US" altLang="en-US" b="1" dirty="0"/>
              <a:t>only one multicast operation </a:t>
            </a:r>
            <a:r>
              <a:rPr lang="en-US" altLang="en-US" dirty="0"/>
              <a:t>to send a message to each of a group of </a:t>
            </a:r>
            <a:r>
              <a:rPr lang="en-US" altLang="en-US" dirty="0" smtClean="0"/>
              <a:t>processes </a:t>
            </a:r>
            <a:r>
              <a:rPr lang="en-US" altLang="en-US" b="1" dirty="0" smtClean="0"/>
              <a:t>instead </a:t>
            </a:r>
            <a:r>
              <a:rPr lang="en-US" altLang="en-US" b="1" dirty="0"/>
              <a:t>of issuing multiple send operations to individual processes</a:t>
            </a:r>
            <a:r>
              <a:rPr lang="en-US" altLang="en-US" dirty="0"/>
              <a:t>. </a:t>
            </a:r>
            <a:endParaRPr lang="en-US" altLang="en-US" dirty="0" smtClean="0"/>
          </a:p>
          <a:p>
            <a:pPr algn="just"/>
            <a:r>
              <a:rPr lang="en-US" altLang="en-US" dirty="0" smtClean="0"/>
              <a:t>In </a:t>
            </a:r>
            <a:r>
              <a:rPr lang="en-US" altLang="en-US" dirty="0"/>
              <a:t>this action, the sender is not aware of the </a:t>
            </a:r>
            <a:r>
              <a:rPr lang="en-US" altLang="en-US" b="1" dirty="0"/>
              <a:t>identities of the receivers</a:t>
            </a:r>
            <a:r>
              <a:rPr lang="en-US" altLang="en-US" dirty="0" smtClean="0"/>
              <a:t>.</a:t>
            </a:r>
          </a:p>
          <a:p>
            <a:pPr algn="just"/>
            <a:r>
              <a:rPr lang="en-US" altLang="en-US" dirty="0"/>
              <a:t>In group communication, the central concept is that of a group with associated </a:t>
            </a:r>
            <a:r>
              <a:rPr lang="en-US" altLang="en-US" b="1" i="1" dirty="0"/>
              <a:t>group membership</a:t>
            </a:r>
            <a:r>
              <a:rPr lang="en-US" altLang="en-US" dirty="0"/>
              <a:t>, whereby processes may join or leave the group</a:t>
            </a:r>
            <a:r>
              <a:rPr lang="en-US" altLang="en-US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23272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+mn-lt"/>
              </a:rPr>
              <a:t>key areas of application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US" dirty="0"/>
              <a:t> </a:t>
            </a:r>
            <a:r>
              <a:rPr lang="en-US" b="1" dirty="0" smtClean="0"/>
              <a:t>reliable distribution </a:t>
            </a:r>
            <a:r>
              <a:rPr lang="en-US" b="1" dirty="0"/>
              <a:t>of information </a:t>
            </a:r>
            <a:r>
              <a:rPr lang="en-US" dirty="0"/>
              <a:t>to potentially large numbers of clients, including in the financial industry, where institutions require accurate and </a:t>
            </a:r>
            <a:r>
              <a:rPr lang="en-US" dirty="0" smtClean="0"/>
              <a:t>up-to date </a:t>
            </a:r>
            <a:r>
              <a:rPr lang="en-US" dirty="0"/>
              <a:t>access to a wide variety of information sources; </a:t>
            </a:r>
            <a:endParaRPr lang="en-US" dirty="0" smtClean="0"/>
          </a:p>
          <a:p>
            <a:pPr algn="just"/>
            <a:r>
              <a:rPr lang="en-US" b="1" dirty="0" smtClean="0"/>
              <a:t>support </a:t>
            </a:r>
            <a:r>
              <a:rPr lang="en-US" b="1" dirty="0"/>
              <a:t>for collaborative applications</a:t>
            </a:r>
            <a:r>
              <a:rPr lang="en-US" dirty="0"/>
              <a:t>, where again events must be disseminated to multiple users to preserve a common user view – for example, in multiuser </a:t>
            </a:r>
            <a:r>
              <a:rPr lang="en-US" dirty="0" smtClean="0"/>
              <a:t>games.</a:t>
            </a:r>
          </a:p>
          <a:p>
            <a:pPr algn="just"/>
            <a:r>
              <a:rPr lang="en-US" b="1" dirty="0" smtClean="0"/>
              <a:t>support </a:t>
            </a:r>
            <a:r>
              <a:rPr lang="en-US" b="1" dirty="0"/>
              <a:t>for a range of fault-tolerance strategies</a:t>
            </a:r>
            <a:r>
              <a:rPr lang="en-US" dirty="0"/>
              <a:t>, including the consistent update of replicated </a:t>
            </a:r>
            <a:r>
              <a:rPr lang="en-US" dirty="0" smtClean="0"/>
              <a:t>data or </a:t>
            </a:r>
            <a:r>
              <a:rPr lang="en-US" dirty="0"/>
              <a:t>the implementation of highly available (replicated) servers; </a:t>
            </a:r>
            <a:endParaRPr lang="en-US" dirty="0" smtClean="0"/>
          </a:p>
          <a:p>
            <a:pPr algn="just"/>
            <a:r>
              <a:rPr lang="en-US" dirty="0" smtClean="0"/>
              <a:t>support </a:t>
            </a:r>
            <a:r>
              <a:rPr lang="en-US" dirty="0"/>
              <a:t>for </a:t>
            </a:r>
            <a:r>
              <a:rPr lang="en-US" b="1" dirty="0"/>
              <a:t>system monitoring and management</a:t>
            </a:r>
            <a:r>
              <a:rPr lang="en-US" dirty="0"/>
              <a:t>, including for example load balancing strategies.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57922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Platshållare för sidfot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mtClean="0"/>
              <a:t>DSII: Group Comm.</a:t>
            </a:r>
          </a:p>
        </p:txBody>
      </p:sp>
      <p:sp>
        <p:nvSpPr>
          <p:cNvPr id="11267" name="Platshållare för bildnumm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019C9B6-FFB9-4556-A813-DEC739937DE6}" type="slidenum">
              <a:rPr lang="en-US" altLang="en-US"/>
              <a:pPr/>
              <a:t>5</a:t>
            </a:fld>
            <a:endParaRPr lang="en-US" altLang="en-US"/>
          </a:p>
        </p:txBody>
      </p:sp>
      <p:sp>
        <p:nvSpPr>
          <p:cNvPr id="11268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15240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b="1" dirty="0" smtClean="0">
                <a:latin typeface="+mn-lt"/>
              </a:rPr>
              <a:t>Group communication</a:t>
            </a:r>
          </a:p>
        </p:txBody>
      </p:sp>
      <p:sp>
        <p:nvSpPr>
          <p:cNvPr id="1126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2580" y="1447801"/>
            <a:ext cx="10908406" cy="5273674"/>
          </a:xfrm>
        </p:spPr>
        <p:txBody>
          <a:bodyPr>
            <a:normAutofit fontScale="85000" lnSpcReduction="20000"/>
          </a:bodyPr>
          <a:lstStyle/>
          <a:p>
            <a:pPr lvl="1" algn="just" eaLnBrk="1" hangingPunct="1"/>
            <a:endParaRPr lang="en-US" altLang="en-US" sz="2900" dirty="0" smtClean="0"/>
          </a:p>
          <a:p>
            <a:pPr algn="just"/>
            <a:r>
              <a:rPr lang="en-US" altLang="en-US" sz="2900" dirty="0"/>
              <a:t>Group communication </a:t>
            </a:r>
            <a:r>
              <a:rPr lang="en-US" altLang="en-US" sz="2900" dirty="0" smtClean="0"/>
              <a:t>to provide:</a:t>
            </a:r>
            <a:endParaRPr lang="en-US" altLang="en-US" sz="2900" dirty="0"/>
          </a:p>
          <a:p>
            <a:pPr lvl="1" algn="just"/>
            <a:r>
              <a:rPr lang="en-US" altLang="en-US" sz="2900" dirty="0" smtClean="0"/>
              <a:t>It </a:t>
            </a:r>
            <a:r>
              <a:rPr lang="en-US" altLang="en-US" sz="2900" dirty="0"/>
              <a:t>enables the implementation to be efficient in its </a:t>
            </a:r>
            <a:r>
              <a:rPr lang="en-US" altLang="en-US" sz="2900" b="1" dirty="0"/>
              <a:t>utilization of bandwidth </a:t>
            </a:r>
            <a:r>
              <a:rPr lang="en-US" altLang="en-US" sz="2900" dirty="0"/>
              <a:t>and</a:t>
            </a:r>
            <a:r>
              <a:rPr lang="en-US" altLang="en-US" sz="2900" b="1" dirty="0"/>
              <a:t> </a:t>
            </a:r>
            <a:r>
              <a:rPr lang="en-US" altLang="en-US" sz="2900" dirty="0"/>
              <a:t>total transmission </a:t>
            </a:r>
            <a:r>
              <a:rPr lang="en-US" altLang="en-US" sz="2900" b="1" dirty="0" smtClean="0"/>
              <a:t>time is very less </a:t>
            </a:r>
            <a:r>
              <a:rPr lang="en-US" altLang="en-US" sz="2900" dirty="0" smtClean="0"/>
              <a:t>. </a:t>
            </a:r>
            <a:endParaRPr lang="en-US" altLang="en-US" sz="2900" dirty="0"/>
          </a:p>
          <a:p>
            <a:pPr lvl="1" algn="just"/>
            <a:r>
              <a:rPr lang="en-US" altLang="en-US" sz="2900" dirty="0" smtClean="0"/>
              <a:t>Simultaneous </a:t>
            </a:r>
            <a:r>
              <a:rPr lang="en-US" altLang="en-US" sz="2900" dirty="0"/>
              <a:t>execution of the </a:t>
            </a:r>
            <a:r>
              <a:rPr lang="en-US" altLang="en-US" sz="2900" b="1" dirty="0"/>
              <a:t>same operation </a:t>
            </a:r>
            <a:r>
              <a:rPr lang="en-US" altLang="en-US" sz="2900" dirty="0"/>
              <a:t>in a group of workstations</a:t>
            </a:r>
          </a:p>
          <a:p>
            <a:pPr lvl="1" algn="just"/>
            <a:r>
              <a:rPr lang="en-US" altLang="en-US" sz="2900" dirty="0"/>
              <a:t>Software installation in </a:t>
            </a:r>
            <a:r>
              <a:rPr lang="en-US" altLang="en-US" sz="2900" b="1" dirty="0"/>
              <a:t>multiple workstations</a:t>
            </a:r>
          </a:p>
          <a:p>
            <a:pPr lvl="1" eaLnBrk="1" hangingPunct="1"/>
            <a:endParaRPr lang="en-US" altLang="en-US" dirty="0" smtClean="0"/>
          </a:p>
          <a:p>
            <a:pPr marL="0" indent="0">
              <a:buNone/>
            </a:pPr>
            <a:r>
              <a:rPr lang="en-US" altLang="en-US" sz="3600" b="1" dirty="0" smtClean="0">
                <a:solidFill>
                  <a:prstClr val="black"/>
                </a:solidFill>
                <a:latin typeface="Calibri Light" panose="020F0302020204030204"/>
                <a:ea typeface="+mj-ea"/>
                <a:cs typeface="+mj-cs"/>
              </a:rPr>
              <a:t>Who </a:t>
            </a:r>
            <a:r>
              <a:rPr lang="en-US" altLang="en-US" sz="3600" b="1" dirty="0">
                <a:solidFill>
                  <a:prstClr val="black"/>
                </a:solidFill>
                <a:latin typeface="Calibri Light" panose="020F0302020204030204"/>
                <a:ea typeface="+mj-ea"/>
                <a:cs typeface="+mj-cs"/>
              </a:rPr>
              <a:t>Needs Group Communication?</a:t>
            </a:r>
            <a:endParaRPr lang="en-US" altLang="en-US" sz="3600" b="1" dirty="0" smtClean="0"/>
          </a:p>
          <a:p>
            <a:r>
              <a:rPr lang="en-US" altLang="en-US" dirty="0"/>
              <a:t>Highly available servers (client-server)</a:t>
            </a:r>
          </a:p>
          <a:p>
            <a:r>
              <a:rPr lang="en-US" altLang="en-US" dirty="0"/>
              <a:t>Database Replication</a:t>
            </a:r>
          </a:p>
          <a:p>
            <a:r>
              <a:rPr lang="en-US" altLang="en-US" dirty="0"/>
              <a:t>Multimedia Conferencing</a:t>
            </a:r>
          </a:p>
          <a:p>
            <a:r>
              <a:rPr lang="en-US" altLang="en-US" dirty="0"/>
              <a:t>Online Games</a:t>
            </a:r>
          </a:p>
          <a:p>
            <a:r>
              <a:rPr lang="en-US" altLang="en-US" dirty="0"/>
              <a:t>Cluster management</a:t>
            </a:r>
          </a:p>
          <a:p>
            <a:r>
              <a:rPr lang="en-US" altLang="en-US" dirty="0"/>
              <a:t>…</a:t>
            </a:r>
          </a:p>
          <a:p>
            <a:pPr eaLnBrk="1" hangingPunct="1"/>
            <a:endParaRPr lang="en-US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2949677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14683" t="1667" r="25211" b="18294"/>
          <a:stretch/>
        </p:blipFill>
        <p:spPr>
          <a:xfrm>
            <a:off x="1545463" y="0"/>
            <a:ext cx="8910668" cy="6671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33728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262095"/>
            <a:ext cx="10515600" cy="562154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Group Communication </a:t>
            </a:r>
            <a:r>
              <a:rPr lang="en-IN" b="1" dirty="0" smtClean="0"/>
              <a:t>Primitives</a:t>
            </a:r>
            <a:endParaRPr lang="en-US" altLang="en-US" dirty="0" smtClean="0"/>
          </a:p>
        </p:txBody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249251"/>
            <a:ext cx="10515600" cy="5249684"/>
          </a:xfrm>
        </p:spPr>
        <p:txBody>
          <a:bodyPr>
            <a:normAutofit/>
          </a:bodyPr>
          <a:lstStyle/>
          <a:p>
            <a:pPr algn="just"/>
            <a:r>
              <a:rPr lang="en-IN" b="1" dirty="0" err="1"/>
              <a:t>MPI_Bcast</a:t>
            </a:r>
            <a:r>
              <a:rPr lang="en-IN" b="1" dirty="0"/>
              <a:t> (</a:t>
            </a:r>
            <a:r>
              <a:rPr lang="en-IN" sz="2400" b="1" dirty="0" err="1"/>
              <a:t>sendbuf</a:t>
            </a:r>
            <a:r>
              <a:rPr lang="en-IN" sz="2400" b="1" dirty="0"/>
              <a:t>, </a:t>
            </a:r>
            <a:r>
              <a:rPr lang="en-IN" sz="2400" b="1" dirty="0" err="1"/>
              <a:t>sendcount</a:t>
            </a:r>
            <a:r>
              <a:rPr lang="en-IN" sz="2400" b="1" dirty="0"/>
              <a:t>, </a:t>
            </a:r>
            <a:r>
              <a:rPr lang="en-IN" sz="2400" b="1" dirty="0" err="1"/>
              <a:t>sendtype</a:t>
            </a:r>
            <a:r>
              <a:rPr lang="en-IN" sz="2400" b="1" dirty="0"/>
              <a:t>, </a:t>
            </a:r>
            <a:r>
              <a:rPr lang="en-IN" sz="2400" b="1" dirty="0" err="1"/>
              <a:t>rootID</a:t>
            </a:r>
            <a:r>
              <a:rPr lang="en-IN" sz="2400" b="1" dirty="0"/>
              <a:t>, communicator</a:t>
            </a:r>
            <a:r>
              <a:rPr lang="en-IN" b="1" dirty="0"/>
              <a:t>)</a:t>
            </a:r>
            <a:endParaRPr lang="en-IN" dirty="0"/>
          </a:p>
          <a:p>
            <a:pPr lvl="1" algn="just"/>
            <a:endParaRPr lang="en-IN" dirty="0" smtClean="0"/>
          </a:p>
          <a:p>
            <a:pPr lvl="1" algn="just"/>
            <a:r>
              <a:rPr lang="en-IN" dirty="0" smtClean="0"/>
              <a:t>Send </a:t>
            </a:r>
            <a:r>
              <a:rPr lang="en-IN" dirty="0"/>
              <a:t>the message in "</a:t>
            </a:r>
            <a:r>
              <a:rPr lang="en-IN" dirty="0" err="1"/>
              <a:t>sendbuf</a:t>
            </a:r>
            <a:r>
              <a:rPr lang="en-IN" dirty="0"/>
              <a:t>" to all </a:t>
            </a:r>
            <a:r>
              <a:rPr lang="en-IN" dirty="0" smtClean="0"/>
              <a:t>processes</a:t>
            </a:r>
          </a:p>
          <a:p>
            <a:pPr lvl="1" algn="just"/>
            <a:endParaRPr lang="en-IN" dirty="0"/>
          </a:p>
          <a:p>
            <a:pPr algn="just"/>
            <a:r>
              <a:rPr lang="en-IN" b="1" dirty="0" err="1"/>
              <a:t>MPI_Scatter</a:t>
            </a:r>
            <a:r>
              <a:rPr lang="en-IN" b="1" dirty="0"/>
              <a:t> (</a:t>
            </a:r>
            <a:r>
              <a:rPr lang="en-IN" sz="2400" b="1" dirty="0" err="1"/>
              <a:t>sendbuf</a:t>
            </a:r>
            <a:r>
              <a:rPr lang="en-IN" sz="2400" b="1" dirty="0"/>
              <a:t>, </a:t>
            </a:r>
            <a:r>
              <a:rPr lang="en-IN" sz="2400" b="1" dirty="0" err="1"/>
              <a:t>sendcount</a:t>
            </a:r>
            <a:r>
              <a:rPr lang="en-IN" sz="2400" b="1" dirty="0"/>
              <a:t>, </a:t>
            </a:r>
            <a:r>
              <a:rPr lang="en-IN" sz="2400" b="1" dirty="0" err="1"/>
              <a:t>sendtype</a:t>
            </a:r>
            <a:r>
              <a:rPr lang="en-IN" sz="2400" b="1" dirty="0"/>
              <a:t>, </a:t>
            </a:r>
            <a:r>
              <a:rPr lang="en-IN" sz="2400" b="1" dirty="0" err="1"/>
              <a:t>recvbuf</a:t>
            </a:r>
            <a:r>
              <a:rPr lang="en-IN" sz="2400" b="1" dirty="0"/>
              <a:t>, </a:t>
            </a:r>
            <a:r>
              <a:rPr lang="en-IN" sz="2400" b="1" dirty="0" err="1"/>
              <a:t>recvcount</a:t>
            </a:r>
            <a:r>
              <a:rPr lang="en-IN" sz="2400" b="1" dirty="0"/>
              <a:t>, </a:t>
            </a:r>
            <a:r>
              <a:rPr lang="en-IN" sz="2400" b="1" dirty="0" err="1"/>
              <a:t>recvtype</a:t>
            </a:r>
            <a:r>
              <a:rPr lang="en-IN" sz="2400" b="1" dirty="0"/>
              <a:t>, </a:t>
            </a:r>
            <a:r>
              <a:rPr lang="en-IN" sz="2400" b="1" dirty="0" err="1"/>
              <a:t>rootID</a:t>
            </a:r>
            <a:r>
              <a:rPr lang="en-IN" sz="2400" b="1" dirty="0"/>
              <a:t>, communicator</a:t>
            </a:r>
            <a:r>
              <a:rPr lang="en-IN" b="1" dirty="0"/>
              <a:t>)</a:t>
            </a:r>
            <a:endParaRPr lang="en-IN" dirty="0"/>
          </a:p>
          <a:p>
            <a:pPr lvl="1" algn="just"/>
            <a:endParaRPr lang="en-IN" dirty="0" smtClean="0"/>
          </a:p>
          <a:p>
            <a:pPr lvl="1" algn="just"/>
            <a:r>
              <a:rPr lang="en-IN" dirty="0" smtClean="0"/>
              <a:t>Sender</a:t>
            </a:r>
            <a:r>
              <a:rPr lang="en-IN" dirty="0"/>
              <a:t> </a:t>
            </a:r>
            <a:r>
              <a:rPr lang="en-IN" b="1" dirty="0" err="1"/>
              <a:t>rootID</a:t>
            </a:r>
            <a:r>
              <a:rPr lang="en-IN" dirty="0"/>
              <a:t> </a:t>
            </a:r>
            <a:r>
              <a:rPr lang="en-IN" b="1" dirty="0"/>
              <a:t>distributes (scatters)</a:t>
            </a:r>
            <a:r>
              <a:rPr lang="en-IN" dirty="0"/>
              <a:t> the message in "</a:t>
            </a:r>
            <a:r>
              <a:rPr lang="en-IN" dirty="0" err="1"/>
              <a:t>sendbuf</a:t>
            </a:r>
            <a:r>
              <a:rPr lang="en-IN" dirty="0"/>
              <a:t>" among all processes in the communication group</a:t>
            </a:r>
          </a:p>
          <a:p>
            <a:pPr eaLnBrk="1" hangingPunct="1"/>
            <a:endParaRPr lang="en-US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1166297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262095"/>
            <a:ext cx="10515600" cy="562154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Group Communication </a:t>
            </a:r>
            <a:r>
              <a:rPr lang="en-IN" b="1" dirty="0" smtClean="0"/>
              <a:t>Primitives</a:t>
            </a:r>
            <a:endParaRPr lang="en-US" altLang="en-US" dirty="0" smtClean="0"/>
          </a:p>
        </p:txBody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927279"/>
            <a:ext cx="10515600" cy="5249684"/>
          </a:xfrm>
        </p:spPr>
        <p:txBody>
          <a:bodyPr>
            <a:normAutofit/>
          </a:bodyPr>
          <a:lstStyle/>
          <a:p>
            <a:endParaRPr lang="en-IN" b="1" dirty="0" smtClean="0"/>
          </a:p>
          <a:p>
            <a:pPr algn="just"/>
            <a:r>
              <a:rPr lang="en-IN" b="1" dirty="0" err="1" smtClean="0"/>
              <a:t>MPI_Gather</a:t>
            </a:r>
            <a:r>
              <a:rPr lang="en-IN" b="1" dirty="0"/>
              <a:t> (</a:t>
            </a:r>
            <a:r>
              <a:rPr lang="en-IN" sz="2400" b="1" dirty="0" err="1" smtClean="0"/>
              <a:t>sendbuf</a:t>
            </a:r>
            <a:r>
              <a:rPr lang="en-IN" sz="2400" b="1" dirty="0" smtClean="0"/>
              <a:t>, </a:t>
            </a:r>
            <a:r>
              <a:rPr lang="en-IN" sz="2400" b="1" dirty="0" err="1"/>
              <a:t>sendcount</a:t>
            </a:r>
            <a:r>
              <a:rPr lang="en-IN" sz="2400" b="1" dirty="0"/>
              <a:t>, </a:t>
            </a:r>
            <a:r>
              <a:rPr lang="en-IN" sz="2400" b="1" dirty="0" err="1"/>
              <a:t>sendtype</a:t>
            </a:r>
            <a:r>
              <a:rPr lang="en-IN" sz="2400" b="1" dirty="0"/>
              <a:t>, </a:t>
            </a:r>
            <a:r>
              <a:rPr lang="en-IN" sz="2400" b="1" dirty="0" err="1"/>
              <a:t>recvbuf</a:t>
            </a:r>
            <a:r>
              <a:rPr lang="en-IN" sz="2400" b="1" dirty="0"/>
              <a:t>, </a:t>
            </a:r>
            <a:r>
              <a:rPr lang="en-IN" sz="2400" b="1" dirty="0" err="1"/>
              <a:t>recvcount</a:t>
            </a:r>
            <a:r>
              <a:rPr lang="en-IN" sz="2400" b="1" dirty="0"/>
              <a:t>, </a:t>
            </a:r>
            <a:r>
              <a:rPr lang="en-IN" sz="2400" b="1" dirty="0" err="1"/>
              <a:t>recvtype</a:t>
            </a:r>
            <a:r>
              <a:rPr lang="en-IN" sz="2400" b="1" dirty="0"/>
              <a:t>, </a:t>
            </a:r>
            <a:r>
              <a:rPr lang="en-IN" sz="2400" b="1" dirty="0" err="1"/>
              <a:t>rootID</a:t>
            </a:r>
            <a:r>
              <a:rPr lang="en-IN" sz="2400" b="1" dirty="0"/>
              <a:t>, </a:t>
            </a:r>
            <a:r>
              <a:rPr lang="en-IN" sz="2400" b="1" dirty="0" smtClean="0"/>
              <a:t>communicator</a:t>
            </a:r>
            <a:r>
              <a:rPr lang="en-IN" b="1" dirty="0"/>
              <a:t>)</a:t>
            </a:r>
            <a:endParaRPr lang="en-IN" dirty="0"/>
          </a:p>
          <a:p>
            <a:pPr lvl="1" algn="just"/>
            <a:endParaRPr lang="en-IN" dirty="0" smtClean="0"/>
          </a:p>
          <a:p>
            <a:pPr lvl="1" algn="just"/>
            <a:r>
              <a:rPr lang="en-IN" dirty="0" smtClean="0"/>
              <a:t>Processor</a:t>
            </a:r>
            <a:r>
              <a:rPr lang="en-IN" dirty="0"/>
              <a:t> </a:t>
            </a:r>
            <a:r>
              <a:rPr lang="en-IN" b="1" dirty="0" err="1"/>
              <a:t>rootID</a:t>
            </a:r>
            <a:r>
              <a:rPr lang="en-IN" dirty="0"/>
              <a:t> </a:t>
            </a:r>
            <a:r>
              <a:rPr lang="en-IN" b="1" dirty="0"/>
              <a:t>receives messages from all other processors</a:t>
            </a:r>
            <a:r>
              <a:rPr lang="en-IN" dirty="0"/>
              <a:t> and </a:t>
            </a:r>
            <a:r>
              <a:rPr lang="en-IN" b="1" dirty="0"/>
              <a:t>concatenate </a:t>
            </a:r>
            <a:r>
              <a:rPr lang="en-IN" dirty="0"/>
              <a:t>the output in the "</a:t>
            </a:r>
            <a:r>
              <a:rPr lang="en-IN" dirty="0" err="1" smtClean="0"/>
              <a:t>recvbuf</a:t>
            </a:r>
            <a:r>
              <a:rPr lang="en-IN" dirty="0" smtClean="0"/>
              <a:t>“</a:t>
            </a:r>
          </a:p>
          <a:p>
            <a:pPr lvl="1" algn="just"/>
            <a:endParaRPr lang="en-IN" dirty="0"/>
          </a:p>
          <a:p>
            <a:pPr algn="just"/>
            <a:r>
              <a:rPr lang="en-IN" b="1" dirty="0" err="1"/>
              <a:t>MPI_Reduce</a:t>
            </a:r>
            <a:r>
              <a:rPr lang="en-IN" b="1" dirty="0"/>
              <a:t> (</a:t>
            </a:r>
            <a:r>
              <a:rPr lang="en-IN" sz="2400" b="1" dirty="0" err="1"/>
              <a:t>sendbuf</a:t>
            </a:r>
            <a:r>
              <a:rPr lang="en-IN" sz="2400" b="1" dirty="0"/>
              <a:t>, </a:t>
            </a:r>
            <a:r>
              <a:rPr lang="en-IN" sz="2400" b="1" dirty="0" err="1"/>
              <a:t>recvbuf</a:t>
            </a:r>
            <a:r>
              <a:rPr lang="en-IN" sz="2400" b="1" dirty="0"/>
              <a:t>, count, type, </a:t>
            </a:r>
            <a:r>
              <a:rPr lang="en-IN" sz="2400" b="1" i="1" dirty="0">
                <a:solidFill>
                  <a:srgbClr val="0070C0"/>
                </a:solidFill>
              </a:rPr>
              <a:t>op</a:t>
            </a:r>
            <a:r>
              <a:rPr lang="en-IN" sz="2400" b="1" dirty="0"/>
              <a:t>, </a:t>
            </a:r>
            <a:r>
              <a:rPr lang="en-IN" sz="2400" b="1" dirty="0" err="1"/>
              <a:t>rootID</a:t>
            </a:r>
            <a:r>
              <a:rPr lang="en-IN" sz="2400" b="1" dirty="0"/>
              <a:t>, communicator</a:t>
            </a:r>
            <a:r>
              <a:rPr lang="en-IN" b="1" dirty="0"/>
              <a:t>)</a:t>
            </a:r>
            <a:endParaRPr lang="en-IN" dirty="0"/>
          </a:p>
          <a:p>
            <a:pPr lvl="1" algn="just"/>
            <a:endParaRPr lang="en-IN" dirty="0" smtClean="0"/>
          </a:p>
          <a:p>
            <a:pPr lvl="1" algn="just"/>
            <a:r>
              <a:rPr lang="en-IN" dirty="0" smtClean="0"/>
              <a:t>Processor</a:t>
            </a:r>
            <a:r>
              <a:rPr lang="en-IN" dirty="0"/>
              <a:t> </a:t>
            </a:r>
            <a:r>
              <a:rPr lang="en-IN" b="1" dirty="0" err="1"/>
              <a:t>rootID</a:t>
            </a:r>
            <a:r>
              <a:rPr lang="en-IN" dirty="0"/>
              <a:t> </a:t>
            </a:r>
            <a:r>
              <a:rPr lang="en-IN" b="1" dirty="0"/>
              <a:t>receives messages from all other processors</a:t>
            </a:r>
            <a:r>
              <a:rPr lang="en-IN" dirty="0"/>
              <a:t> and </a:t>
            </a:r>
            <a:r>
              <a:rPr lang="en-IN" b="1" dirty="0"/>
              <a:t>performs the operation op</a:t>
            </a:r>
            <a:r>
              <a:rPr lang="en-IN" dirty="0"/>
              <a:t> on the received data</a:t>
            </a:r>
            <a:r>
              <a:rPr lang="en-IN" dirty="0" smtClean="0"/>
              <a:t>. </a:t>
            </a:r>
            <a:r>
              <a:rPr lang="en-US" dirty="0"/>
              <a:t>The final outcome is stored in the "</a:t>
            </a:r>
            <a:r>
              <a:rPr lang="en-US" dirty="0" err="1"/>
              <a:t>recvbuf</a:t>
            </a:r>
            <a:r>
              <a:rPr lang="en-US" dirty="0"/>
              <a:t>" variable.</a:t>
            </a:r>
            <a:endParaRPr lang="en-IN" dirty="0"/>
          </a:p>
          <a:p>
            <a:pPr eaLnBrk="1" hangingPunct="1"/>
            <a:endParaRPr lang="en-US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910747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 </a:t>
            </a:r>
            <a:r>
              <a:rPr lang="en-US" b="1" i="1" dirty="0"/>
              <a:t>Broadcast</a:t>
            </a:r>
            <a:r>
              <a:rPr lang="en-US" b="1" dirty="0"/>
              <a:t> Group Communication Primitive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1049000" cy="4351338"/>
          </a:xfrm>
        </p:spPr>
        <p:txBody>
          <a:bodyPr/>
          <a:lstStyle/>
          <a:p>
            <a:r>
              <a:rPr lang="en-US" b="1" dirty="0"/>
              <a:t>Broadcasting</a:t>
            </a:r>
            <a:r>
              <a:rPr lang="en-US" dirty="0"/>
              <a:t> is sending a message to </a:t>
            </a:r>
            <a:r>
              <a:rPr lang="en-US" b="1" dirty="0"/>
              <a:t>all </a:t>
            </a:r>
            <a:r>
              <a:rPr lang="en-US" b="1" dirty="0" smtClean="0"/>
              <a:t>members</a:t>
            </a:r>
            <a:r>
              <a:rPr lang="en-US" dirty="0"/>
              <a:t> of the </a:t>
            </a:r>
            <a:r>
              <a:rPr lang="en-US" dirty="0" smtClean="0"/>
              <a:t>group.</a:t>
            </a:r>
          </a:p>
          <a:p>
            <a:endParaRPr lang="en-IN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4125421"/>
              </p:ext>
            </p:extLst>
          </p:nvPr>
        </p:nvGraphicFramePr>
        <p:xfrm>
          <a:off x="992746" y="2942651"/>
          <a:ext cx="7159581" cy="1489316"/>
        </p:xfrm>
        <a:graphic>
          <a:graphicData uri="http://schemas.openxmlformats.org/drawingml/2006/table">
            <a:tbl>
              <a:tblPr/>
              <a:tblGrid>
                <a:gridCol w="7159581"/>
              </a:tblGrid>
              <a:tr h="1489316">
                <a:tc>
                  <a:txBody>
                    <a:bodyPr/>
                    <a:lstStyle/>
                    <a:p>
                      <a:r>
                        <a:rPr lang="en-IN" sz="2400" b="1" dirty="0" err="1"/>
                        <a:t>MPI_Bcast</a:t>
                      </a:r>
                      <a:r>
                        <a:rPr lang="en-IN" sz="2400" b="1" dirty="0"/>
                        <a:t>(void* buffer, </a:t>
                      </a:r>
                      <a:r>
                        <a:rPr lang="en-IN" sz="2400" b="1" dirty="0" err="1"/>
                        <a:t>int</a:t>
                      </a:r>
                      <a:r>
                        <a:rPr lang="en-IN" sz="2400" b="1" dirty="0"/>
                        <a:t> count, </a:t>
                      </a:r>
                      <a:r>
                        <a:rPr lang="en-IN" sz="2400" b="1" dirty="0" err="1"/>
                        <a:t>MPI_Datatype</a:t>
                      </a:r>
                      <a:r>
                        <a:rPr lang="en-IN" sz="2400" b="1" dirty="0"/>
                        <a:t> datatype, </a:t>
                      </a:r>
                      <a:r>
                        <a:rPr lang="en-IN" sz="2400" b="1" dirty="0" err="1"/>
                        <a:t>int</a:t>
                      </a:r>
                      <a:r>
                        <a:rPr lang="en-IN" sz="2400" b="1" dirty="0"/>
                        <a:t> </a:t>
                      </a:r>
                      <a:r>
                        <a:rPr lang="en-IN" sz="2400" b="1" dirty="0" err="1"/>
                        <a:t>rootID</a:t>
                      </a:r>
                      <a:r>
                        <a:rPr lang="en-IN" sz="2400" b="1" dirty="0"/>
                        <a:t>, </a:t>
                      </a:r>
                      <a:r>
                        <a:rPr lang="en-IN" sz="2400" b="1" dirty="0" err="1"/>
                        <a:t>MPI_Comm</a:t>
                      </a:r>
                      <a:r>
                        <a:rPr lang="en-IN" sz="2400" b="1" dirty="0"/>
                        <a:t> </a:t>
                      </a:r>
                      <a:r>
                        <a:rPr lang="en-IN" sz="2400" b="1" dirty="0" err="1"/>
                        <a:t>comm</a:t>
                      </a:r>
                      <a:r>
                        <a:rPr lang="en-IN" sz="2400" b="1" dirty="0"/>
                        <a:t> ) </a:t>
                      </a:r>
                      <a:endParaRPr lang="en-IN" sz="2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0EE90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915473" y="2942651"/>
            <a:ext cx="121920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Syntax of the MPI_Bcast() call:</a:t>
            </a: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915473" y="4658133"/>
            <a:ext cx="612927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The </a:t>
            </a:r>
            <a:r>
              <a:rPr lang="en-US" sz="2400" b="1" dirty="0">
                <a:latin typeface="Times New Roman" panose="02020603050405020304" pitchFamily="18" charset="0"/>
              </a:rPr>
              <a:t>MPI process "</a:t>
            </a:r>
            <a:r>
              <a:rPr lang="en-US" sz="2400" b="1" dirty="0" err="1">
                <a:latin typeface="Times New Roman" panose="02020603050405020304" pitchFamily="18" charset="0"/>
              </a:rPr>
              <a:t>rootID</a:t>
            </a:r>
            <a:r>
              <a:rPr lang="en-US" sz="2400" b="1" dirty="0">
                <a:latin typeface="Times New Roman" panose="02020603050405020304" pitchFamily="18" charset="0"/>
              </a:rPr>
              <a:t>"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 sends the </a:t>
            </a:r>
            <a:r>
              <a:rPr lang="en-US" sz="2400" b="1" dirty="0">
                <a:latin typeface="Times New Roman" panose="02020603050405020304" pitchFamily="18" charset="0"/>
              </a:rPr>
              <a:t>data in "buffer"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 to </a:t>
            </a:r>
            <a:r>
              <a:rPr lang="en-US" sz="2400" b="1" dirty="0">
                <a:latin typeface="Times New Roman" panose="02020603050405020304" pitchFamily="18" charset="0"/>
              </a:rPr>
              <a:t>all other members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 in the </a:t>
            </a:r>
            <a:r>
              <a:rPr lang="en-US" sz="2400" b="1" dirty="0">
                <a:latin typeface="Times New Roman" panose="02020603050405020304" pitchFamily="18" charset="0"/>
              </a:rPr>
              <a:t>communication group "</a:t>
            </a:r>
            <a:r>
              <a:rPr lang="en-US" sz="2400" b="1" dirty="0" err="1">
                <a:latin typeface="Times New Roman" panose="02020603050405020304" pitchFamily="18" charset="0"/>
              </a:rPr>
              <a:t>comm</a:t>
            </a:r>
            <a:r>
              <a:rPr lang="en-US" sz="2400" b="1" dirty="0">
                <a:latin typeface="Times New Roman" panose="02020603050405020304" pitchFamily="18" charset="0"/>
              </a:rPr>
              <a:t>"</a:t>
            </a:r>
            <a:endParaRPr lang="en-IN" sz="240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8172" y="2969952"/>
            <a:ext cx="4793828" cy="3207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597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 </a:t>
            </a:r>
            <a:r>
              <a:rPr lang="en-US" b="1" i="1" dirty="0"/>
              <a:t>Broadcast</a:t>
            </a:r>
            <a:r>
              <a:rPr lang="en-US" b="1" dirty="0"/>
              <a:t> Group Communication Primitive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6076" y="2006601"/>
            <a:ext cx="8823638" cy="4191024"/>
          </a:xfrm>
        </p:spPr>
        <p:txBody>
          <a:bodyPr/>
          <a:lstStyle/>
          <a:p>
            <a:r>
              <a:rPr lang="en-US" sz="2000" b="1" dirty="0" err="1"/>
              <a:t>Psuedo</a:t>
            </a:r>
            <a:r>
              <a:rPr lang="en-US" sz="2000" b="1" dirty="0"/>
              <a:t> code</a:t>
            </a:r>
            <a:r>
              <a:rPr lang="en-US" sz="2000" dirty="0"/>
              <a:t> that describes what happens in a </a:t>
            </a:r>
            <a:r>
              <a:rPr lang="en-US" sz="2000" b="1" dirty="0" err="1"/>
              <a:t>MPI_Bcast</a:t>
            </a:r>
            <a:r>
              <a:rPr lang="en-US" sz="2000" b="1" dirty="0"/>
              <a:t>()</a:t>
            </a:r>
            <a:r>
              <a:rPr lang="en-US" sz="2000" dirty="0"/>
              <a:t>:</a:t>
            </a:r>
          </a:p>
          <a:p>
            <a:r>
              <a:rPr lang="en-US" sz="2000" dirty="0"/>
              <a:t/>
            </a:r>
            <a:br>
              <a:rPr lang="en-US" sz="2000" dirty="0"/>
            </a:br>
            <a:endParaRPr lang="en-IN" sz="20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7669" y="2719749"/>
            <a:ext cx="5144089" cy="2924756"/>
          </a:xfrm>
          <a:prstGeom prst="rect">
            <a:avLst/>
          </a:prstGeom>
        </p:spPr>
      </p:pic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167130" y="3489189"/>
            <a:ext cx="6684431" cy="1938992"/>
          </a:xfrm>
          <a:prstGeom prst="rect">
            <a:avLst/>
          </a:prstGeom>
          <a:solidFill>
            <a:srgbClr val="E0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Arial Unicode MS" panose="020B0604020202020204" pitchFamily="34" charset="-128"/>
                <a:cs typeface="Times New Roman" panose="02020603050405020304" pitchFamily="18" charset="0"/>
              </a:rPr>
              <a:t>if ( </a:t>
            </a:r>
            <a:r>
              <a:rPr kumimoji="0" lang="en-US" altLang="en-US" sz="2000" b="1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 panose="020B0604020202020204" pitchFamily="34" charset="-128"/>
                <a:cs typeface="Times New Roman" panose="02020603050405020304" pitchFamily="18" charset="0"/>
              </a:rPr>
              <a:t>myID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 panose="020B0604020202020204" pitchFamily="34" charset="-128"/>
                <a:cs typeface="Times New Roman" panose="02020603050405020304" pitchFamily="18" charset="0"/>
              </a:rPr>
              <a:t> == </a:t>
            </a:r>
            <a:r>
              <a:rPr lang="en-US" altLang="en-US" sz="2000" b="1" dirty="0">
                <a:solidFill>
                  <a:srgbClr val="FF0000"/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0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Arial Unicode MS" panose="020B0604020202020204" pitchFamily="34" charset="-128"/>
                <a:cs typeface="Times New Roman" panose="02020603050405020304" pitchFamily="18" charset="0"/>
              </a:rPr>
              <a:t>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Arial Unicode MS" panose="020B0604020202020204" pitchFamily="34" charset="-128"/>
                <a:cs typeface="Times New Roman" panose="02020603050405020304" pitchFamily="18" charset="0"/>
              </a:rPr>
              <a:t>{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rgbClr val="8B0000"/>
                </a:solidFill>
                <a:effectLst/>
                <a:latin typeface="Arial Unicode MS" panose="020B0604020202020204" pitchFamily="34" charset="-128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rgbClr val="8B0000"/>
                </a:solidFill>
                <a:effectLst/>
                <a:latin typeface="Arial Unicode MS" panose="020B0604020202020204" pitchFamily="34" charset="-128"/>
                <a:cs typeface="Times New Roman" panose="02020603050405020304" pitchFamily="18" charset="0"/>
              </a:rPr>
              <a:t> buffer=10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Arial Unicode MS" panose="020B0604020202020204" pitchFamily="34" charset="-128"/>
                <a:cs typeface="Times New Roman" panose="02020603050405020304" pitchFamily="18" charset="0"/>
              </a:rPr>
              <a:t> }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 err="1">
                <a:solidFill>
                  <a:srgbClr val="FF0000"/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MPI_Bcast</a:t>
            </a:r>
            <a:r>
              <a:rPr lang="en-US" altLang="en-US" sz="2000" b="1" dirty="0">
                <a:solidFill>
                  <a:srgbClr val="8B0000"/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( </a:t>
            </a:r>
            <a:r>
              <a:rPr lang="en-US" altLang="en-US" sz="2000" b="1" dirty="0" smtClean="0">
                <a:solidFill>
                  <a:srgbClr val="8B0000"/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buffer,1, MPI_INT, 0,MPI_COMM_WORLD);</a:t>
            </a:r>
            <a:endParaRPr lang="en-US" altLang="en-US" sz="2000" b="1" dirty="0">
              <a:solidFill>
                <a:srgbClr val="8B0000"/>
              </a:solidFill>
              <a:latin typeface="Arial Unicode MS" panose="020B0604020202020204" pitchFamily="34" charset="-128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 smtClean="0">
              <a:ln>
                <a:noFill/>
              </a:ln>
              <a:solidFill>
                <a:srgbClr val="0000FF"/>
              </a:solidFill>
              <a:effectLst/>
              <a:latin typeface="Arial Unicode MS" panose="020B0604020202020204" pitchFamily="34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80400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1" dirty="0"/>
              <a:t>Scatter</a:t>
            </a:r>
            <a:r>
              <a:rPr lang="en-IN" b="1" dirty="0"/>
              <a:t> Group Communication primitive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 err="1"/>
              <a:t>MPI_Scatter</a:t>
            </a:r>
            <a:r>
              <a:rPr lang="en-US" dirty="0"/>
              <a:t>() is used to split an array into N parts and send one of the parts to each MPI process</a:t>
            </a:r>
          </a:p>
          <a:p>
            <a:r>
              <a:rPr lang="en-US" dirty="0"/>
              <a:t>Syntax of the </a:t>
            </a:r>
            <a:r>
              <a:rPr lang="en-US" dirty="0" err="1"/>
              <a:t>MPI_Scatter</a:t>
            </a:r>
            <a:r>
              <a:rPr lang="en-US" dirty="0"/>
              <a:t>() call</a:t>
            </a:r>
            <a:r>
              <a:rPr lang="en-US" dirty="0" smtClean="0"/>
              <a:t>:</a:t>
            </a:r>
          </a:p>
          <a:p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8450" t="37740" r="44859" b="28628"/>
          <a:stretch/>
        </p:blipFill>
        <p:spPr>
          <a:xfrm>
            <a:off x="1854558" y="3146234"/>
            <a:ext cx="9165368" cy="3711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4796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1" dirty="0"/>
              <a:t>Scatter</a:t>
            </a:r>
            <a:r>
              <a:rPr lang="en-IN" b="1" dirty="0"/>
              <a:t> Group Communication primitive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5645" y="3809514"/>
            <a:ext cx="6174681" cy="2746972"/>
          </a:xfrm>
          <a:prstGeom prst="rect">
            <a:avLst/>
          </a:prstGeom>
        </p:spPr>
      </p:pic>
      <p:sp>
        <p:nvSpPr>
          <p:cNvPr id="6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32138" y="1503606"/>
            <a:ext cx="6684843" cy="249299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err="1" smtClean="0">
                <a:ln>
                  <a:noFill/>
                </a:ln>
                <a:solidFill>
                  <a:srgbClr val="0000FF"/>
                </a:solidFill>
                <a:effectLst/>
                <a:latin typeface="Arial Unicode MS" panose="020B0604020202020204" pitchFamily="34" charset="-128"/>
                <a:cs typeface="Times New Roman" panose="02020603050405020304" pitchFamily="18" charset="0"/>
              </a:rPr>
              <a:t>sendtype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- type of data sent 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(valid for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rootID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only)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err="1" smtClean="0">
                <a:ln>
                  <a:noFill/>
                </a:ln>
                <a:solidFill>
                  <a:srgbClr val="0000FF"/>
                </a:solidFill>
                <a:effectLst/>
                <a:latin typeface="Arial Unicode MS" panose="020B0604020202020204" pitchFamily="34" charset="-128"/>
                <a:cs typeface="Times New Roman" panose="02020603050405020304" pitchFamily="18" charset="0"/>
              </a:rPr>
              <a:t>recvbuf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- buffer for receiving data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err="1" smtClean="0">
                <a:ln>
                  <a:noFill/>
                </a:ln>
                <a:solidFill>
                  <a:srgbClr val="0000FF"/>
                </a:solidFill>
                <a:effectLst/>
                <a:latin typeface="Arial Unicode MS" panose="020B0604020202020204" pitchFamily="34" charset="-128"/>
                <a:cs typeface="Times New Roman" panose="02020603050405020304" pitchFamily="18" charset="0"/>
              </a:rPr>
              <a:t>recvcount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- number of items to receive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err="1" smtClean="0">
                <a:ln>
                  <a:noFill/>
                </a:ln>
                <a:solidFill>
                  <a:srgbClr val="0000FF"/>
                </a:solidFill>
                <a:effectLst/>
                <a:latin typeface="Arial Unicode MS" panose="020B0604020202020204" pitchFamily="34" charset="-128"/>
                <a:cs typeface="Times New Roman" panose="02020603050405020304" pitchFamily="18" charset="0"/>
              </a:rPr>
              <a:t>recvtype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- type of data received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err="1" smtClean="0">
                <a:ln>
                  <a:noFill/>
                </a:ln>
                <a:solidFill>
                  <a:srgbClr val="0000FF"/>
                </a:solidFill>
                <a:effectLst/>
                <a:latin typeface="Arial Unicode MS" panose="020B0604020202020204" pitchFamily="34" charset="-128"/>
                <a:cs typeface="Times New Roman" panose="02020603050405020304" pitchFamily="18" charset="0"/>
              </a:rPr>
              <a:t>rootID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- id of root processor 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(who is doing the send operation)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err="1" smtClean="0">
                <a:ln>
                  <a:noFill/>
                </a:ln>
                <a:solidFill>
                  <a:srgbClr val="0000FF"/>
                </a:solidFill>
                <a:effectLst/>
                <a:latin typeface="Arial Unicode MS" panose="020B0604020202020204" pitchFamily="34" charset="-128"/>
                <a:cs typeface="Times New Roman" panose="02020603050405020304" pitchFamily="18" charset="0"/>
              </a:rPr>
              <a:t>comm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- the communicator group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138" y="4114491"/>
            <a:ext cx="5228219" cy="232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5568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1" dirty="0"/>
              <a:t>Gather</a:t>
            </a:r>
            <a:r>
              <a:rPr lang="en-IN" b="1" dirty="0"/>
              <a:t> Group Communication primitives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76399" y="2059677"/>
            <a:ext cx="9868190" cy="3462455"/>
          </a:xfrm>
        </p:spPr>
        <p:txBody>
          <a:bodyPr/>
          <a:lstStyle/>
          <a:p>
            <a:r>
              <a:rPr lang="en-US" sz="2400" dirty="0"/>
              <a:t>The </a:t>
            </a:r>
            <a:r>
              <a:rPr lang="en-US" sz="2400" dirty="0" err="1"/>
              <a:t>MPI_Gather</a:t>
            </a:r>
            <a:r>
              <a:rPr lang="en-US" sz="2400" dirty="0"/>
              <a:t>() is usually used in conjunction with the </a:t>
            </a:r>
            <a:r>
              <a:rPr lang="en-US" sz="2400" dirty="0" err="1"/>
              <a:t>MPI_Gather</a:t>
            </a:r>
            <a:r>
              <a:rPr lang="en-US" sz="2400" dirty="0"/>
              <a:t>() call</a:t>
            </a:r>
            <a:r>
              <a:rPr lang="en-US" sz="2400" dirty="0" smtClean="0"/>
              <a:t>.</a:t>
            </a:r>
          </a:p>
          <a:p>
            <a:r>
              <a:rPr lang="en-US" sz="2400" dirty="0"/>
              <a:t>Syntax of the </a:t>
            </a:r>
            <a:r>
              <a:rPr lang="en-US" sz="2400" dirty="0" err="1"/>
              <a:t>MPI_Gather</a:t>
            </a:r>
            <a:r>
              <a:rPr lang="en-US" sz="2400" dirty="0"/>
              <a:t>() call</a:t>
            </a:r>
            <a:r>
              <a:rPr lang="en-US" sz="2400" dirty="0" smtClean="0"/>
              <a:t>:</a:t>
            </a:r>
          </a:p>
          <a:p>
            <a:endParaRPr lang="en-IN" sz="2400" dirty="0" smtClean="0"/>
          </a:p>
          <a:p>
            <a:endParaRPr lang="en-IN" sz="2400" dirty="0"/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1993900" y="3190739"/>
            <a:ext cx="7581900" cy="1200329"/>
          </a:xfrm>
          <a:prstGeom prst="rect">
            <a:avLst/>
          </a:prstGeom>
          <a:solidFill>
            <a:srgbClr val="FFFFE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 panose="020B0604020202020204" pitchFamily="34" charset="-128"/>
                <a:cs typeface="Times New Roman" panose="02020603050405020304" pitchFamily="18" charset="0"/>
              </a:rPr>
              <a:t>MPI_Gather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Arial Unicode MS" panose="020B0604020202020204" pitchFamily="34" charset="-128"/>
                <a:cs typeface="Times New Roman" panose="02020603050405020304" pitchFamily="18" charset="0"/>
              </a:rPr>
              <a:t>(void* </a:t>
            </a:r>
            <a:r>
              <a:rPr kumimoji="0" lang="en-US" altLang="en-US" sz="2400" b="1" i="0" u="none" strike="noStrike" cap="none" normalizeH="0" baseline="0" dirty="0" err="1" smtClean="0">
                <a:ln>
                  <a:noFill/>
                </a:ln>
                <a:solidFill>
                  <a:srgbClr val="0000FF"/>
                </a:solidFill>
                <a:effectLst/>
                <a:latin typeface="Arial Unicode MS" panose="020B0604020202020204" pitchFamily="34" charset="-128"/>
                <a:cs typeface="Times New Roman" panose="02020603050405020304" pitchFamily="18" charset="0"/>
              </a:rPr>
              <a:t>sendbuf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Arial Unicode MS" panose="020B0604020202020204" pitchFamily="34" charset="-128"/>
                <a:cs typeface="Times New Roman" panose="02020603050405020304" pitchFamily="18" charset="0"/>
              </a:rPr>
              <a:t>, </a:t>
            </a:r>
            <a:r>
              <a:rPr kumimoji="0" lang="en-US" altLang="en-US" sz="2400" b="1" i="0" u="none" strike="noStrike" cap="none" normalizeH="0" baseline="0" dirty="0" err="1" smtClean="0">
                <a:ln>
                  <a:noFill/>
                </a:ln>
                <a:solidFill>
                  <a:srgbClr val="0000FF"/>
                </a:solidFill>
                <a:effectLst/>
                <a:latin typeface="Arial Unicode MS" panose="020B0604020202020204" pitchFamily="34" charset="-128"/>
                <a:cs typeface="Times New Roman" panose="02020603050405020304" pitchFamily="18" charset="0"/>
              </a:rPr>
              <a:t>int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Arial Unicode MS" panose="020B0604020202020204" pitchFamily="34" charset="-128"/>
                <a:cs typeface="Times New Roman" panose="02020603050405020304" pitchFamily="18" charset="0"/>
              </a:rPr>
              <a:t> </a:t>
            </a:r>
            <a:r>
              <a:rPr kumimoji="0" lang="en-US" altLang="en-US" sz="2400" b="1" i="0" u="none" strike="noStrike" cap="none" normalizeH="0" baseline="0" dirty="0" err="1" smtClean="0">
                <a:ln>
                  <a:noFill/>
                </a:ln>
                <a:solidFill>
                  <a:srgbClr val="0000FF"/>
                </a:solidFill>
                <a:effectLst/>
                <a:latin typeface="Arial Unicode MS" panose="020B0604020202020204" pitchFamily="34" charset="-128"/>
                <a:cs typeface="Times New Roman" panose="02020603050405020304" pitchFamily="18" charset="0"/>
              </a:rPr>
              <a:t>sendcount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Arial Unicode MS" panose="020B0604020202020204" pitchFamily="34" charset="-128"/>
                <a:cs typeface="Times New Roman" panose="02020603050405020304" pitchFamily="18" charset="0"/>
              </a:rPr>
              <a:t>, </a:t>
            </a:r>
            <a:r>
              <a:rPr kumimoji="0" lang="en-US" altLang="en-US" sz="2400" b="1" i="0" u="none" strike="noStrike" cap="none" normalizeH="0" baseline="0" dirty="0" err="1" smtClean="0">
                <a:ln>
                  <a:noFill/>
                </a:ln>
                <a:solidFill>
                  <a:srgbClr val="0000FF"/>
                </a:solidFill>
                <a:effectLst/>
                <a:latin typeface="Arial Unicode MS" panose="020B0604020202020204" pitchFamily="34" charset="-128"/>
                <a:cs typeface="Times New Roman" panose="02020603050405020304" pitchFamily="18" charset="0"/>
              </a:rPr>
              <a:t>MPI_Datatype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Arial Unicode MS" panose="020B0604020202020204" pitchFamily="34" charset="-128"/>
                <a:cs typeface="Times New Roman" panose="02020603050405020304" pitchFamily="18" charset="0"/>
              </a:rPr>
              <a:t> </a:t>
            </a:r>
            <a:r>
              <a:rPr kumimoji="0" lang="en-US" altLang="en-US" sz="2400" b="1" i="0" u="none" strike="noStrike" cap="none" normalizeH="0" baseline="0" dirty="0" err="1" smtClean="0">
                <a:ln>
                  <a:noFill/>
                </a:ln>
                <a:solidFill>
                  <a:srgbClr val="0000FF"/>
                </a:solidFill>
                <a:effectLst/>
                <a:latin typeface="Arial Unicode MS" panose="020B0604020202020204" pitchFamily="34" charset="-128"/>
                <a:cs typeface="Times New Roman" panose="02020603050405020304" pitchFamily="18" charset="0"/>
              </a:rPr>
              <a:t>sendtype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Arial Unicode MS" panose="020B0604020202020204" pitchFamily="34" charset="-128"/>
                <a:cs typeface="Times New Roman" panose="02020603050405020304" pitchFamily="18" charset="0"/>
              </a:rPr>
              <a:t>, void* </a:t>
            </a:r>
            <a:r>
              <a:rPr kumimoji="0" lang="en-US" altLang="en-US" sz="2400" b="1" i="0" u="none" strike="noStrike" cap="none" normalizeH="0" baseline="0" dirty="0" err="1" smtClean="0">
                <a:ln>
                  <a:noFill/>
                </a:ln>
                <a:solidFill>
                  <a:srgbClr val="0000FF"/>
                </a:solidFill>
                <a:effectLst/>
                <a:latin typeface="Arial Unicode MS" panose="020B0604020202020204" pitchFamily="34" charset="-128"/>
                <a:cs typeface="Times New Roman" panose="02020603050405020304" pitchFamily="18" charset="0"/>
              </a:rPr>
              <a:t>recvbuf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Arial Unicode MS" panose="020B0604020202020204" pitchFamily="34" charset="-128"/>
                <a:cs typeface="Times New Roman" panose="02020603050405020304" pitchFamily="18" charset="0"/>
              </a:rPr>
              <a:t>, </a:t>
            </a:r>
            <a:r>
              <a:rPr kumimoji="0" lang="en-US" altLang="en-US" sz="2400" b="1" i="0" u="none" strike="noStrike" cap="none" normalizeH="0" baseline="0" dirty="0" err="1" smtClean="0">
                <a:ln>
                  <a:noFill/>
                </a:ln>
                <a:solidFill>
                  <a:srgbClr val="0000FF"/>
                </a:solidFill>
                <a:effectLst/>
                <a:latin typeface="Arial Unicode MS" panose="020B0604020202020204" pitchFamily="34" charset="-128"/>
                <a:cs typeface="Times New Roman" panose="02020603050405020304" pitchFamily="18" charset="0"/>
              </a:rPr>
              <a:t>int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Arial Unicode MS" panose="020B0604020202020204" pitchFamily="34" charset="-128"/>
                <a:cs typeface="Times New Roman" panose="02020603050405020304" pitchFamily="18" charset="0"/>
              </a:rPr>
              <a:t> </a:t>
            </a:r>
            <a:r>
              <a:rPr kumimoji="0" lang="en-US" altLang="en-US" sz="2400" b="1" i="0" u="none" strike="noStrike" cap="none" normalizeH="0" baseline="0" dirty="0" err="1" smtClean="0">
                <a:ln>
                  <a:noFill/>
                </a:ln>
                <a:solidFill>
                  <a:srgbClr val="0000FF"/>
                </a:solidFill>
                <a:effectLst/>
                <a:latin typeface="Arial Unicode MS" panose="020B0604020202020204" pitchFamily="34" charset="-128"/>
                <a:cs typeface="Times New Roman" panose="02020603050405020304" pitchFamily="18" charset="0"/>
              </a:rPr>
              <a:t>recvcount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Arial Unicode MS" panose="020B0604020202020204" pitchFamily="34" charset="-128"/>
                <a:cs typeface="Times New Roman" panose="02020603050405020304" pitchFamily="18" charset="0"/>
              </a:rPr>
              <a:t>, </a:t>
            </a:r>
            <a:r>
              <a:rPr kumimoji="0" lang="en-US" altLang="en-US" sz="2400" b="1" i="0" u="none" strike="noStrike" cap="none" normalizeH="0" baseline="0" dirty="0" err="1" smtClean="0">
                <a:ln>
                  <a:noFill/>
                </a:ln>
                <a:solidFill>
                  <a:srgbClr val="0000FF"/>
                </a:solidFill>
                <a:effectLst/>
                <a:latin typeface="Arial Unicode MS" panose="020B0604020202020204" pitchFamily="34" charset="-128"/>
                <a:cs typeface="Times New Roman" panose="02020603050405020304" pitchFamily="18" charset="0"/>
              </a:rPr>
              <a:t>MPI_Datatype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Arial Unicode MS" panose="020B0604020202020204" pitchFamily="34" charset="-128"/>
                <a:cs typeface="Times New Roman" panose="02020603050405020304" pitchFamily="18" charset="0"/>
              </a:rPr>
              <a:t> </a:t>
            </a:r>
            <a:r>
              <a:rPr kumimoji="0" lang="en-US" altLang="en-US" sz="2400" b="1" i="0" u="none" strike="noStrike" cap="none" normalizeH="0" baseline="0" dirty="0" err="1" smtClean="0">
                <a:ln>
                  <a:noFill/>
                </a:ln>
                <a:solidFill>
                  <a:srgbClr val="0000FF"/>
                </a:solidFill>
                <a:effectLst/>
                <a:latin typeface="Arial Unicode MS" panose="020B0604020202020204" pitchFamily="34" charset="-128"/>
                <a:cs typeface="Times New Roman" panose="02020603050405020304" pitchFamily="18" charset="0"/>
              </a:rPr>
              <a:t>recvtype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Arial Unicode MS" panose="020B0604020202020204" pitchFamily="34" charset="-128"/>
                <a:cs typeface="Times New Roman" panose="02020603050405020304" pitchFamily="18" charset="0"/>
              </a:rPr>
              <a:t>, </a:t>
            </a:r>
            <a:r>
              <a:rPr kumimoji="0" lang="en-US" altLang="en-US" sz="2400" b="1" i="0" u="none" strike="noStrike" cap="none" normalizeH="0" baseline="0" dirty="0" err="1" smtClean="0">
                <a:ln>
                  <a:noFill/>
                </a:ln>
                <a:solidFill>
                  <a:srgbClr val="0000FF"/>
                </a:solidFill>
                <a:effectLst/>
                <a:latin typeface="Arial Unicode MS" panose="020B0604020202020204" pitchFamily="34" charset="-128"/>
                <a:cs typeface="Times New Roman" panose="02020603050405020304" pitchFamily="18" charset="0"/>
              </a:rPr>
              <a:t>int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Arial Unicode MS" panose="020B0604020202020204" pitchFamily="34" charset="-128"/>
                <a:cs typeface="Times New Roman" panose="02020603050405020304" pitchFamily="18" charset="0"/>
              </a:rPr>
              <a:t> </a:t>
            </a:r>
            <a:r>
              <a:rPr kumimoji="0" lang="en-US" altLang="en-US" sz="2400" b="1" i="0" u="none" strike="noStrike" cap="none" normalizeH="0" baseline="0" dirty="0" err="1" smtClean="0">
                <a:ln>
                  <a:noFill/>
                </a:ln>
                <a:solidFill>
                  <a:srgbClr val="0000FF"/>
                </a:solidFill>
                <a:effectLst/>
                <a:latin typeface="Arial Unicode MS" panose="020B0604020202020204" pitchFamily="34" charset="-128"/>
                <a:cs typeface="Times New Roman" panose="02020603050405020304" pitchFamily="18" charset="0"/>
              </a:rPr>
              <a:t>rootID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Arial Unicode MS" panose="020B0604020202020204" pitchFamily="34" charset="-128"/>
                <a:cs typeface="Times New Roman" panose="02020603050405020304" pitchFamily="18" charset="0"/>
              </a:rPr>
              <a:t>, </a:t>
            </a:r>
            <a:r>
              <a:rPr kumimoji="0" lang="en-US" altLang="en-US" sz="2400" b="1" i="0" u="none" strike="noStrike" cap="none" normalizeH="0" baseline="0" dirty="0" err="1" smtClean="0">
                <a:ln>
                  <a:noFill/>
                </a:ln>
                <a:solidFill>
                  <a:srgbClr val="0000FF"/>
                </a:solidFill>
                <a:effectLst/>
                <a:latin typeface="Arial Unicode MS" panose="020B0604020202020204" pitchFamily="34" charset="-128"/>
                <a:cs typeface="Times New Roman" panose="02020603050405020304" pitchFamily="18" charset="0"/>
              </a:rPr>
              <a:t>MPI_Comm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Arial Unicode MS" panose="020B0604020202020204" pitchFamily="34" charset="-128"/>
                <a:cs typeface="Times New Roman" panose="02020603050405020304" pitchFamily="18" charset="0"/>
              </a:rPr>
              <a:t> </a:t>
            </a:r>
            <a:r>
              <a:rPr kumimoji="0" lang="en-US" altLang="en-US" sz="2400" b="1" i="0" u="none" strike="noStrike" cap="none" normalizeH="0" baseline="0" dirty="0" err="1" smtClean="0">
                <a:ln>
                  <a:noFill/>
                </a:ln>
                <a:solidFill>
                  <a:srgbClr val="0000FF"/>
                </a:solidFill>
                <a:effectLst/>
                <a:latin typeface="Arial Unicode MS" panose="020B0604020202020204" pitchFamily="34" charset="-128"/>
                <a:cs typeface="Times New Roman" panose="02020603050405020304" pitchFamily="18" charset="0"/>
              </a:rPr>
              <a:t>comm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Arial Unicode MS" panose="020B0604020202020204" pitchFamily="34" charset="-128"/>
                <a:cs typeface="Times New Roman" panose="02020603050405020304" pitchFamily="18" charset="0"/>
              </a:rPr>
              <a:t>)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736850" y="4644966"/>
            <a:ext cx="683895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err="1"/>
              <a:t>sendbuf</a:t>
            </a:r>
            <a:r>
              <a:rPr lang="en-US" sz="2000" dirty="0"/>
              <a:t> - the data (must be valid for ALL processors)</a:t>
            </a:r>
          </a:p>
          <a:p>
            <a:r>
              <a:rPr lang="en-US" sz="2000" dirty="0" err="1"/>
              <a:t>sendcount</a:t>
            </a:r>
            <a:r>
              <a:rPr lang="en-US" sz="2000" dirty="0"/>
              <a:t> - number of items that will be sent to the </a:t>
            </a:r>
            <a:r>
              <a:rPr lang="en-US" sz="2000" dirty="0" err="1"/>
              <a:t>rootID</a:t>
            </a:r>
            <a:r>
              <a:rPr lang="en-US" sz="2000" dirty="0"/>
              <a:t> process</a:t>
            </a:r>
          </a:p>
          <a:p>
            <a:r>
              <a:rPr lang="en-US" sz="2000" dirty="0" err="1"/>
              <a:t>sendtype</a:t>
            </a:r>
            <a:r>
              <a:rPr lang="en-US" sz="2000" dirty="0"/>
              <a:t> - type of data sent</a:t>
            </a:r>
          </a:p>
          <a:p>
            <a:r>
              <a:rPr lang="en-US" sz="2000" dirty="0" err="1"/>
              <a:t>recvbuf</a:t>
            </a:r>
            <a:r>
              <a:rPr lang="en-US" sz="2000" dirty="0"/>
              <a:t> - buffer for receiving data</a:t>
            </a:r>
          </a:p>
          <a:p>
            <a:r>
              <a:rPr lang="en-US" sz="2000" dirty="0" err="1"/>
              <a:t>recvcount</a:t>
            </a:r>
            <a:r>
              <a:rPr lang="en-US" sz="2000" dirty="0"/>
              <a:t> - number of items to receive (per processor)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577057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1" dirty="0"/>
              <a:t>Gather</a:t>
            </a:r>
            <a:r>
              <a:rPr lang="en-IN" b="1" dirty="0"/>
              <a:t> Group Communication primitives</a:t>
            </a:r>
            <a:endParaRPr lang="en-IN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10242" name="Picture 2" descr="http://www.mathcs.emory.edu/~cheung/Courses/355/Syllabus/92-MPI/FIGS/MPI_Gather01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93" y="1690688"/>
            <a:ext cx="5683107" cy="2741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5788" y="3587930"/>
            <a:ext cx="6461125" cy="2723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980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200" y="159634"/>
            <a:ext cx="10515600" cy="1034346"/>
          </a:xfrm>
        </p:spPr>
        <p:txBody>
          <a:bodyPr/>
          <a:lstStyle/>
          <a:p>
            <a:r>
              <a:rPr lang="en-IN" b="1" i="1" dirty="0"/>
              <a:t>Reduce</a:t>
            </a:r>
            <a:r>
              <a:rPr lang="en-IN" b="1" dirty="0"/>
              <a:t> Group Communication primitives</a:t>
            </a:r>
            <a:endParaRPr lang="en-IN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711201" y="1379285"/>
            <a:ext cx="10985500" cy="4351338"/>
          </a:xfrm>
        </p:spPr>
        <p:txBody>
          <a:bodyPr/>
          <a:lstStyle/>
          <a:p>
            <a:r>
              <a:rPr lang="en-US" dirty="0"/>
              <a:t>Often, the data gathered by the </a:t>
            </a:r>
            <a:r>
              <a:rPr lang="en-US" dirty="0" err="1"/>
              <a:t>MPI_Gather</a:t>
            </a:r>
            <a:r>
              <a:rPr lang="en-US" dirty="0"/>
              <a:t>() need to be operated on to produce the final result.</a:t>
            </a:r>
          </a:p>
          <a:p>
            <a:r>
              <a:rPr lang="en-US" dirty="0"/>
              <a:t>For example, results of the computations could be a part of a sum and the results gathered needs to be added up to produce the final sum</a:t>
            </a:r>
            <a:r>
              <a:rPr lang="en-US" dirty="0" smtClean="0"/>
              <a:t>.</a:t>
            </a:r>
          </a:p>
          <a:p>
            <a:r>
              <a:rPr lang="en-US" dirty="0"/>
              <a:t>Syntax of the </a:t>
            </a:r>
            <a:r>
              <a:rPr lang="en-US" dirty="0" err="1"/>
              <a:t>MPI_Reduce</a:t>
            </a:r>
            <a:r>
              <a:rPr lang="en-US" dirty="0"/>
              <a:t>() call</a:t>
            </a:r>
            <a:r>
              <a:rPr lang="en-US" dirty="0" smtClean="0"/>
              <a:t>:</a:t>
            </a:r>
          </a:p>
          <a:p>
            <a:endParaRPr lang="en-IN" dirty="0"/>
          </a:p>
        </p:txBody>
      </p:sp>
      <p:sp>
        <p:nvSpPr>
          <p:cNvPr id="12" name="Rectangle 5"/>
          <p:cNvSpPr>
            <a:spLocks noChangeArrowheads="1"/>
          </p:cNvSpPr>
          <p:nvPr/>
        </p:nvSpPr>
        <p:spPr bwMode="auto">
          <a:xfrm>
            <a:off x="1117601" y="4309922"/>
            <a:ext cx="9520348" cy="830997"/>
          </a:xfrm>
          <a:prstGeom prst="rect">
            <a:avLst/>
          </a:prstGeom>
          <a:solidFill>
            <a:srgbClr val="FFFFE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 panose="020B0604020202020204" pitchFamily="34" charset="-128"/>
                <a:cs typeface="Times New Roman" panose="02020603050405020304" pitchFamily="18" charset="0"/>
              </a:rPr>
              <a:t>MPI_Reduce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Arial Unicode MS" panose="020B0604020202020204" pitchFamily="34" charset="-128"/>
                <a:cs typeface="Times New Roman" panose="02020603050405020304" pitchFamily="18" charset="0"/>
              </a:rPr>
              <a:t>(void* </a:t>
            </a:r>
            <a:r>
              <a:rPr kumimoji="0" lang="en-US" altLang="en-US" sz="2400" b="1" i="0" u="none" strike="noStrike" cap="none" normalizeH="0" baseline="0" dirty="0" err="1" smtClean="0">
                <a:ln>
                  <a:noFill/>
                </a:ln>
                <a:solidFill>
                  <a:srgbClr val="0000FF"/>
                </a:solidFill>
                <a:effectLst/>
                <a:latin typeface="Arial Unicode MS" panose="020B0604020202020204" pitchFamily="34" charset="-128"/>
                <a:cs typeface="Times New Roman" panose="02020603050405020304" pitchFamily="18" charset="0"/>
              </a:rPr>
              <a:t>sendbuf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Arial Unicode MS" panose="020B0604020202020204" pitchFamily="34" charset="-128"/>
                <a:cs typeface="Times New Roman" panose="02020603050405020304" pitchFamily="18" charset="0"/>
              </a:rPr>
              <a:t>, void* </a:t>
            </a:r>
            <a:r>
              <a:rPr kumimoji="0" lang="en-US" altLang="en-US" sz="2400" b="1" i="0" u="none" strike="noStrike" cap="none" normalizeH="0" baseline="0" dirty="0" err="1" smtClean="0">
                <a:ln>
                  <a:noFill/>
                </a:ln>
                <a:solidFill>
                  <a:srgbClr val="0000FF"/>
                </a:solidFill>
                <a:effectLst/>
                <a:latin typeface="Arial Unicode MS" panose="020B0604020202020204" pitchFamily="34" charset="-128"/>
                <a:cs typeface="Times New Roman" panose="02020603050405020304" pitchFamily="18" charset="0"/>
              </a:rPr>
              <a:t>recvbuf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Arial Unicode MS" panose="020B0604020202020204" pitchFamily="34" charset="-128"/>
                <a:cs typeface="Times New Roman" panose="02020603050405020304" pitchFamily="18" charset="0"/>
              </a:rPr>
              <a:t>, </a:t>
            </a:r>
            <a:r>
              <a:rPr kumimoji="0" lang="en-US" altLang="en-US" sz="2400" b="1" i="0" u="none" strike="noStrike" cap="none" normalizeH="0" baseline="0" dirty="0" err="1" smtClean="0">
                <a:ln>
                  <a:noFill/>
                </a:ln>
                <a:solidFill>
                  <a:srgbClr val="0000FF"/>
                </a:solidFill>
                <a:effectLst/>
                <a:latin typeface="Arial Unicode MS" panose="020B0604020202020204" pitchFamily="34" charset="-128"/>
                <a:cs typeface="Times New Roman" panose="02020603050405020304" pitchFamily="18" charset="0"/>
              </a:rPr>
              <a:t>int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Arial Unicode MS" panose="020B0604020202020204" pitchFamily="34" charset="-128"/>
                <a:cs typeface="Times New Roman" panose="02020603050405020304" pitchFamily="18" charset="0"/>
              </a:rPr>
              <a:t> </a:t>
            </a:r>
            <a:r>
              <a:rPr kumimoji="0" lang="en-US" altLang="en-US" sz="2400" b="1" i="0" u="none" strike="noStrike" cap="none" normalizeH="0" baseline="0" dirty="0" err="1" smtClean="0">
                <a:ln>
                  <a:noFill/>
                </a:ln>
                <a:solidFill>
                  <a:srgbClr val="0000FF"/>
                </a:solidFill>
                <a:effectLst/>
                <a:latin typeface="Arial Unicode MS" panose="020B0604020202020204" pitchFamily="34" charset="-128"/>
                <a:cs typeface="Times New Roman" panose="02020603050405020304" pitchFamily="18" charset="0"/>
              </a:rPr>
              <a:t>recvcount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Arial Unicode MS" panose="020B0604020202020204" pitchFamily="34" charset="-128"/>
                <a:cs typeface="Times New Roman" panose="02020603050405020304" pitchFamily="18" charset="0"/>
              </a:rPr>
              <a:t>, </a:t>
            </a:r>
            <a:r>
              <a:rPr kumimoji="0" lang="en-US" altLang="en-US" sz="2400" b="1" i="0" u="none" strike="noStrike" cap="none" normalizeH="0" baseline="0" dirty="0" err="1" smtClean="0">
                <a:ln>
                  <a:noFill/>
                </a:ln>
                <a:solidFill>
                  <a:srgbClr val="0000FF"/>
                </a:solidFill>
                <a:effectLst/>
                <a:latin typeface="Arial Unicode MS" panose="020B0604020202020204" pitchFamily="34" charset="-128"/>
                <a:cs typeface="Times New Roman" panose="02020603050405020304" pitchFamily="18" charset="0"/>
              </a:rPr>
              <a:t>MPI_Datatype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Arial Unicode MS" panose="020B0604020202020204" pitchFamily="34" charset="-128"/>
                <a:cs typeface="Times New Roman" panose="02020603050405020304" pitchFamily="18" charset="0"/>
              </a:rPr>
              <a:t> </a:t>
            </a:r>
            <a:r>
              <a:rPr kumimoji="0" lang="en-US" altLang="en-US" sz="2400" b="1" i="0" u="none" strike="noStrike" cap="none" normalizeH="0" baseline="0" dirty="0" err="1" smtClean="0">
                <a:ln>
                  <a:noFill/>
                </a:ln>
                <a:solidFill>
                  <a:srgbClr val="0000FF"/>
                </a:solidFill>
                <a:effectLst/>
                <a:latin typeface="Arial Unicode MS" panose="020B0604020202020204" pitchFamily="34" charset="-128"/>
                <a:cs typeface="Times New Roman" panose="02020603050405020304" pitchFamily="18" charset="0"/>
              </a:rPr>
              <a:t>recvtype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Arial Unicode MS" panose="020B0604020202020204" pitchFamily="34" charset="-128"/>
                <a:cs typeface="Times New Roman" panose="02020603050405020304" pitchFamily="18" charset="0"/>
              </a:rPr>
              <a:t>, </a:t>
            </a:r>
            <a:r>
              <a:rPr kumimoji="0" lang="en-US" altLang="en-US" sz="2400" b="1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 panose="020B0604020202020204" pitchFamily="34" charset="-128"/>
                <a:cs typeface="Times New Roman" panose="02020603050405020304" pitchFamily="18" charset="0"/>
              </a:rPr>
              <a:t>MPI_Op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 panose="020B0604020202020204" pitchFamily="34" charset="-128"/>
                <a:cs typeface="Times New Roman" panose="02020603050405020304" pitchFamily="18" charset="0"/>
              </a:rPr>
              <a:t> op, </a:t>
            </a:r>
            <a:r>
              <a:rPr kumimoji="0" lang="en-US" altLang="en-US" sz="2400" b="1" i="0" u="none" strike="noStrike" cap="none" normalizeH="0" baseline="0" dirty="0" err="1" smtClean="0">
                <a:ln>
                  <a:noFill/>
                </a:ln>
                <a:solidFill>
                  <a:srgbClr val="0000FF"/>
                </a:solidFill>
                <a:effectLst/>
                <a:latin typeface="Arial Unicode MS" panose="020B0604020202020204" pitchFamily="34" charset="-128"/>
                <a:cs typeface="Times New Roman" panose="02020603050405020304" pitchFamily="18" charset="0"/>
              </a:rPr>
              <a:t>int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Arial Unicode MS" panose="020B0604020202020204" pitchFamily="34" charset="-128"/>
                <a:cs typeface="Times New Roman" panose="02020603050405020304" pitchFamily="18" charset="0"/>
              </a:rPr>
              <a:t> </a:t>
            </a:r>
            <a:r>
              <a:rPr kumimoji="0" lang="en-US" altLang="en-US" sz="2400" b="1" i="0" u="none" strike="noStrike" cap="none" normalizeH="0" baseline="0" dirty="0" err="1" smtClean="0">
                <a:ln>
                  <a:noFill/>
                </a:ln>
                <a:solidFill>
                  <a:srgbClr val="0000FF"/>
                </a:solidFill>
                <a:effectLst/>
                <a:latin typeface="Arial Unicode MS" panose="020B0604020202020204" pitchFamily="34" charset="-128"/>
                <a:cs typeface="Times New Roman" panose="02020603050405020304" pitchFamily="18" charset="0"/>
              </a:rPr>
              <a:t>rootID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Arial Unicode MS" panose="020B0604020202020204" pitchFamily="34" charset="-128"/>
                <a:cs typeface="Times New Roman" panose="02020603050405020304" pitchFamily="18" charset="0"/>
              </a:rPr>
              <a:t>, </a:t>
            </a:r>
            <a:r>
              <a:rPr kumimoji="0" lang="en-US" altLang="en-US" sz="2400" b="1" i="0" u="none" strike="noStrike" cap="none" normalizeH="0" baseline="0" dirty="0" err="1" smtClean="0">
                <a:ln>
                  <a:noFill/>
                </a:ln>
                <a:solidFill>
                  <a:srgbClr val="0000FF"/>
                </a:solidFill>
                <a:effectLst/>
                <a:latin typeface="Arial Unicode MS" panose="020B0604020202020204" pitchFamily="34" charset="-128"/>
                <a:cs typeface="Times New Roman" panose="02020603050405020304" pitchFamily="18" charset="0"/>
              </a:rPr>
              <a:t>MPI_Comm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Arial Unicode MS" panose="020B0604020202020204" pitchFamily="34" charset="-128"/>
                <a:cs typeface="Times New Roman" panose="02020603050405020304" pitchFamily="18" charset="0"/>
              </a:rPr>
              <a:t> </a:t>
            </a:r>
            <a:r>
              <a:rPr kumimoji="0" lang="en-US" altLang="en-US" sz="2400" b="1" i="0" u="none" strike="noStrike" cap="none" normalizeH="0" baseline="0" dirty="0" err="1" smtClean="0">
                <a:ln>
                  <a:noFill/>
                </a:ln>
                <a:solidFill>
                  <a:srgbClr val="0000FF"/>
                </a:solidFill>
                <a:effectLst/>
                <a:latin typeface="Arial Unicode MS" panose="020B0604020202020204" pitchFamily="34" charset="-128"/>
                <a:cs typeface="Times New Roman" panose="02020603050405020304" pitchFamily="18" charset="0"/>
              </a:rPr>
              <a:t>comm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Arial Unicode MS" panose="020B0604020202020204" pitchFamily="34" charset="-128"/>
                <a:cs typeface="Times New Roman" panose="02020603050405020304" pitchFamily="18" charset="0"/>
              </a:rPr>
              <a:t>)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87596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200" y="146755"/>
            <a:ext cx="10515600" cy="1034346"/>
          </a:xfrm>
        </p:spPr>
        <p:txBody>
          <a:bodyPr/>
          <a:lstStyle/>
          <a:p>
            <a:r>
              <a:rPr lang="en-IN" b="1" i="1" dirty="0"/>
              <a:t>Reduce</a:t>
            </a:r>
            <a:r>
              <a:rPr lang="en-IN" b="1" dirty="0"/>
              <a:t> Group Communication primitives</a:t>
            </a:r>
            <a:endParaRPr lang="en-IN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711201" y="1379285"/>
            <a:ext cx="10985500" cy="4351338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12" name="Rectangle 5"/>
          <p:cNvSpPr>
            <a:spLocks noChangeArrowheads="1"/>
          </p:cNvSpPr>
          <p:nvPr/>
        </p:nvSpPr>
        <p:spPr bwMode="auto">
          <a:xfrm>
            <a:off x="1003301" y="1094612"/>
            <a:ext cx="10239940" cy="1200329"/>
          </a:xfrm>
          <a:prstGeom prst="rect">
            <a:avLst/>
          </a:prstGeom>
          <a:solidFill>
            <a:srgbClr val="FFFFE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 panose="020B0604020202020204" pitchFamily="34" charset="-128"/>
                <a:cs typeface="Times New Roman" panose="02020603050405020304" pitchFamily="18" charset="0"/>
              </a:rPr>
              <a:t>MPI_Reduce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Arial Unicode MS" panose="020B0604020202020204" pitchFamily="34" charset="-128"/>
                <a:cs typeface="Times New Roman" panose="02020603050405020304" pitchFamily="18" charset="0"/>
              </a:rPr>
              <a:t>(void* </a:t>
            </a:r>
            <a:r>
              <a:rPr kumimoji="0" lang="en-US" altLang="en-US" sz="2400" b="1" i="0" u="none" strike="noStrike" cap="none" normalizeH="0" baseline="0" dirty="0" err="1" smtClean="0">
                <a:ln>
                  <a:noFill/>
                </a:ln>
                <a:solidFill>
                  <a:srgbClr val="0000FF"/>
                </a:solidFill>
                <a:effectLst/>
                <a:latin typeface="Arial Unicode MS" panose="020B0604020202020204" pitchFamily="34" charset="-128"/>
                <a:cs typeface="Times New Roman" panose="02020603050405020304" pitchFamily="18" charset="0"/>
              </a:rPr>
              <a:t>sendbuf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Arial Unicode MS" panose="020B0604020202020204" pitchFamily="34" charset="-128"/>
                <a:cs typeface="Times New Roman" panose="02020603050405020304" pitchFamily="18" charset="0"/>
              </a:rPr>
              <a:t>, void* </a:t>
            </a:r>
            <a:r>
              <a:rPr kumimoji="0" lang="en-US" altLang="en-US" sz="2400" b="1" i="0" u="none" strike="noStrike" cap="none" normalizeH="0" baseline="0" dirty="0" err="1" smtClean="0">
                <a:ln>
                  <a:noFill/>
                </a:ln>
                <a:solidFill>
                  <a:srgbClr val="0000FF"/>
                </a:solidFill>
                <a:effectLst/>
                <a:latin typeface="Arial Unicode MS" panose="020B0604020202020204" pitchFamily="34" charset="-128"/>
                <a:cs typeface="Times New Roman" panose="02020603050405020304" pitchFamily="18" charset="0"/>
              </a:rPr>
              <a:t>recvbuf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Arial Unicode MS" panose="020B0604020202020204" pitchFamily="34" charset="-128"/>
                <a:cs typeface="Times New Roman" panose="02020603050405020304" pitchFamily="18" charset="0"/>
              </a:rPr>
              <a:t>, </a:t>
            </a:r>
            <a:r>
              <a:rPr kumimoji="0" lang="en-US" altLang="en-US" sz="2400" b="1" i="0" u="none" strike="noStrike" cap="none" normalizeH="0" baseline="0" dirty="0" err="1" smtClean="0">
                <a:ln>
                  <a:noFill/>
                </a:ln>
                <a:solidFill>
                  <a:srgbClr val="0000FF"/>
                </a:solidFill>
                <a:effectLst/>
                <a:latin typeface="Arial Unicode MS" panose="020B0604020202020204" pitchFamily="34" charset="-128"/>
                <a:cs typeface="Times New Roman" panose="02020603050405020304" pitchFamily="18" charset="0"/>
              </a:rPr>
              <a:t>int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Arial Unicode MS" panose="020B0604020202020204" pitchFamily="34" charset="-128"/>
                <a:cs typeface="Times New Roman" panose="02020603050405020304" pitchFamily="18" charset="0"/>
              </a:rPr>
              <a:t> </a:t>
            </a:r>
            <a:r>
              <a:rPr kumimoji="0" lang="en-US" altLang="en-US" sz="2400" b="1" i="0" u="none" strike="noStrike" cap="none" normalizeH="0" baseline="0" dirty="0" err="1" smtClean="0">
                <a:ln>
                  <a:noFill/>
                </a:ln>
                <a:solidFill>
                  <a:srgbClr val="0000FF"/>
                </a:solidFill>
                <a:effectLst/>
                <a:latin typeface="Arial Unicode MS" panose="020B0604020202020204" pitchFamily="34" charset="-128"/>
                <a:cs typeface="Times New Roman" panose="02020603050405020304" pitchFamily="18" charset="0"/>
              </a:rPr>
              <a:t>recvcount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Arial Unicode MS" panose="020B0604020202020204" pitchFamily="34" charset="-128"/>
                <a:cs typeface="Times New Roman" panose="02020603050405020304" pitchFamily="18" charset="0"/>
              </a:rPr>
              <a:t>, </a:t>
            </a:r>
            <a:r>
              <a:rPr kumimoji="0" lang="en-US" altLang="en-US" sz="2400" b="1" i="0" u="none" strike="noStrike" cap="none" normalizeH="0" baseline="0" dirty="0" err="1" smtClean="0">
                <a:ln>
                  <a:noFill/>
                </a:ln>
                <a:solidFill>
                  <a:srgbClr val="0000FF"/>
                </a:solidFill>
                <a:effectLst/>
                <a:latin typeface="Arial Unicode MS" panose="020B0604020202020204" pitchFamily="34" charset="-128"/>
                <a:cs typeface="Times New Roman" panose="02020603050405020304" pitchFamily="18" charset="0"/>
              </a:rPr>
              <a:t>MPI_Datatype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Arial Unicode MS" panose="020B0604020202020204" pitchFamily="34" charset="-128"/>
                <a:cs typeface="Times New Roman" panose="02020603050405020304" pitchFamily="18" charset="0"/>
              </a:rPr>
              <a:t> </a:t>
            </a:r>
            <a:r>
              <a:rPr kumimoji="0" lang="en-US" altLang="en-US" sz="2400" b="1" i="0" u="none" strike="noStrike" cap="none" normalizeH="0" baseline="0" dirty="0" err="1" smtClean="0">
                <a:ln>
                  <a:noFill/>
                </a:ln>
                <a:solidFill>
                  <a:srgbClr val="0000FF"/>
                </a:solidFill>
                <a:effectLst/>
                <a:latin typeface="Arial Unicode MS" panose="020B0604020202020204" pitchFamily="34" charset="-128"/>
                <a:cs typeface="Times New Roman" panose="02020603050405020304" pitchFamily="18" charset="0"/>
              </a:rPr>
              <a:t>recvtype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Arial Unicode MS" panose="020B0604020202020204" pitchFamily="34" charset="-128"/>
                <a:cs typeface="Times New Roman" panose="02020603050405020304" pitchFamily="18" charset="0"/>
              </a:rPr>
              <a:t>, </a:t>
            </a:r>
            <a:r>
              <a:rPr kumimoji="0" lang="en-US" altLang="en-US" sz="2400" b="1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 panose="020B0604020202020204" pitchFamily="34" charset="-128"/>
                <a:cs typeface="Times New Roman" panose="02020603050405020304" pitchFamily="18" charset="0"/>
              </a:rPr>
              <a:t>MPI_Op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 panose="020B0604020202020204" pitchFamily="34" charset="-128"/>
                <a:cs typeface="Times New Roman" panose="02020603050405020304" pitchFamily="18" charset="0"/>
              </a:rPr>
              <a:t> op, </a:t>
            </a:r>
            <a:r>
              <a:rPr kumimoji="0" lang="en-US" altLang="en-US" sz="2400" b="1" i="0" u="none" strike="noStrike" cap="none" normalizeH="0" baseline="0" dirty="0" err="1" smtClean="0">
                <a:ln>
                  <a:noFill/>
                </a:ln>
                <a:solidFill>
                  <a:srgbClr val="0000FF"/>
                </a:solidFill>
                <a:effectLst/>
                <a:latin typeface="Arial Unicode MS" panose="020B0604020202020204" pitchFamily="34" charset="-128"/>
                <a:cs typeface="Times New Roman" panose="02020603050405020304" pitchFamily="18" charset="0"/>
              </a:rPr>
              <a:t>int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Arial Unicode MS" panose="020B0604020202020204" pitchFamily="34" charset="-128"/>
                <a:cs typeface="Times New Roman" panose="02020603050405020304" pitchFamily="18" charset="0"/>
              </a:rPr>
              <a:t> </a:t>
            </a:r>
            <a:r>
              <a:rPr kumimoji="0" lang="en-US" altLang="en-US" sz="2400" b="1" i="0" u="none" strike="noStrike" cap="none" normalizeH="0" baseline="0" dirty="0" err="1" smtClean="0">
                <a:ln>
                  <a:noFill/>
                </a:ln>
                <a:solidFill>
                  <a:srgbClr val="0000FF"/>
                </a:solidFill>
                <a:effectLst/>
                <a:latin typeface="Arial Unicode MS" panose="020B0604020202020204" pitchFamily="34" charset="-128"/>
                <a:cs typeface="Times New Roman" panose="02020603050405020304" pitchFamily="18" charset="0"/>
              </a:rPr>
              <a:t>rootID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Arial Unicode MS" panose="020B0604020202020204" pitchFamily="34" charset="-128"/>
                <a:cs typeface="Times New Roman" panose="02020603050405020304" pitchFamily="18" charset="0"/>
              </a:rPr>
              <a:t>, </a:t>
            </a:r>
            <a:r>
              <a:rPr kumimoji="0" lang="en-US" altLang="en-US" sz="2400" b="1" i="0" u="none" strike="noStrike" cap="none" normalizeH="0" baseline="0" dirty="0" err="1" smtClean="0">
                <a:ln>
                  <a:noFill/>
                </a:ln>
                <a:solidFill>
                  <a:srgbClr val="0000FF"/>
                </a:solidFill>
                <a:effectLst/>
                <a:latin typeface="Arial Unicode MS" panose="020B0604020202020204" pitchFamily="34" charset="-128"/>
                <a:cs typeface="Times New Roman" panose="02020603050405020304" pitchFamily="18" charset="0"/>
              </a:rPr>
              <a:t>MPI_Comm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Arial Unicode MS" panose="020B0604020202020204" pitchFamily="34" charset="-128"/>
                <a:cs typeface="Times New Roman" panose="02020603050405020304" pitchFamily="18" charset="0"/>
              </a:rPr>
              <a:t> </a:t>
            </a:r>
            <a:r>
              <a:rPr kumimoji="0" lang="en-US" altLang="en-US" sz="2400" b="1" i="0" u="none" strike="noStrike" cap="none" normalizeH="0" baseline="0" dirty="0" err="1" smtClean="0">
                <a:ln>
                  <a:noFill/>
                </a:ln>
                <a:solidFill>
                  <a:srgbClr val="0000FF"/>
                </a:solidFill>
                <a:effectLst/>
                <a:latin typeface="Arial Unicode MS" panose="020B0604020202020204" pitchFamily="34" charset="-128"/>
                <a:cs typeface="Times New Roman" panose="02020603050405020304" pitchFamily="18" charset="0"/>
              </a:rPr>
              <a:t>comm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Arial Unicode MS" panose="020B0604020202020204" pitchFamily="34" charset="-128"/>
                <a:cs typeface="Times New Roman" panose="02020603050405020304" pitchFamily="18" charset="0"/>
              </a:rPr>
              <a:t>)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876300" y="2210282"/>
            <a:ext cx="9042400" cy="249299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err="1" smtClean="0">
                <a:ln>
                  <a:noFill/>
                </a:ln>
                <a:solidFill>
                  <a:srgbClr val="0000FF"/>
                </a:solidFill>
                <a:effectLst/>
                <a:latin typeface="Arial Unicode MS" panose="020B0604020202020204" pitchFamily="34" charset="-128"/>
                <a:cs typeface="Times New Roman" panose="02020603050405020304" pitchFamily="18" charset="0"/>
              </a:rPr>
              <a:t>sendbuf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- the data 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(must be valid for ALL processors)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err="1" smtClean="0">
                <a:ln>
                  <a:noFill/>
                </a:ln>
                <a:solidFill>
                  <a:srgbClr val="0000FF"/>
                </a:solidFill>
                <a:effectLst/>
                <a:latin typeface="Arial Unicode MS" panose="020B0604020202020204" pitchFamily="34" charset="-128"/>
                <a:cs typeface="Times New Roman" panose="02020603050405020304" pitchFamily="18" charset="0"/>
              </a:rPr>
              <a:t>recvbuf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- buffer used to receiving data 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and simultaneously 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perform the "reducing operation".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err="1" smtClean="0">
                <a:ln>
                  <a:noFill/>
                </a:ln>
                <a:solidFill>
                  <a:srgbClr val="0000FF"/>
                </a:solidFill>
                <a:effectLst/>
                <a:latin typeface="Arial Unicode MS" panose="020B0604020202020204" pitchFamily="34" charset="-128"/>
                <a:cs typeface="Times New Roman" panose="02020603050405020304" pitchFamily="18" charset="0"/>
              </a:rPr>
              <a:t>recvcount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- number of items to receive (per processor)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876300" y="4120641"/>
            <a:ext cx="10366941" cy="212365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err="1" smtClean="0">
                <a:ln>
                  <a:noFill/>
                </a:ln>
                <a:solidFill>
                  <a:srgbClr val="0000FF"/>
                </a:solidFill>
                <a:effectLst/>
                <a:latin typeface="Arial Unicode MS" panose="020B0604020202020204" pitchFamily="34" charset="-128"/>
                <a:cs typeface="Times New Roman" panose="02020603050405020304" pitchFamily="18" charset="0"/>
              </a:rPr>
              <a:t>recvtype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- type of data received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 Unicode MS" panose="020B0604020202020204" pitchFamily="34" charset="-128"/>
                <a:cs typeface="Times New Roman" panose="02020603050405020304" pitchFamily="18" charset="0"/>
              </a:rPr>
              <a:t>op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- type of 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operation 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used as the "reducing operation"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err="1" smtClean="0">
                <a:ln>
                  <a:noFill/>
                </a:ln>
                <a:solidFill>
                  <a:srgbClr val="0000FF"/>
                </a:solidFill>
                <a:effectLst/>
                <a:latin typeface="Arial Unicode MS" panose="020B0604020202020204" pitchFamily="34" charset="-128"/>
                <a:cs typeface="Times New Roman" panose="02020603050405020304" pitchFamily="18" charset="0"/>
              </a:rPr>
              <a:t>rootID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- 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of root processor 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who is doing the RECEIVE and REDUCE operation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err="1" smtClean="0">
                <a:ln>
                  <a:noFill/>
                </a:ln>
                <a:solidFill>
                  <a:srgbClr val="0000FF"/>
                </a:solidFill>
                <a:effectLst/>
                <a:latin typeface="Arial Unicode MS" panose="020B0604020202020204" pitchFamily="34" charset="-128"/>
                <a:cs typeface="Times New Roman" panose="02020603050405020304" pitchFamily="18" charset="0"/>
              </a:rPr>
              <a:t>comm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- the communicator group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09122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2245"/>
            <a:ext cx="6673530" cy="290115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2199" y="3208338"/>
            <a:ext cx="6130925" cy="3017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57670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8803" y="159063"/>
            <a:ext cx="10515600" cy="625475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Available Reduction Operations: </a:t>
            </a:r>
            <a:r>
              <a:rPr lang="en-US" dirty="0"/>
              <a:t>(directly from </a:t>
            </a:r>
            <a:r>
              <a:rPr lang="en-US" b="1" dirty="0"/>
              <a:t>MPI</a:t>
            </a:r>
            <a:r>
              <a:rPr lang="en-US" dirty="0"/>
              <a:t>)</a:t>
            </a:r>
            <a:endParaRPr lang="en-IN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/>
          </p:nvPr>
        </p:nvGraphicFramePr>
        <p:xfrm>
          <a:off x="103031" y="784538"/>
          <a:ext cx="11809926" cy="5746323"/>
        </p:xfrm>
        <a:graphic>
          <a:graphicData uri="http://schemas.openxmlformats.org/drawingml/2006/table">
            <a:tbl>
              <a:tblPr/>
              <a:tblGrid>
                <a:gridCol w="2266681"/>
                <a:gridCol w="9543245"/>
              </a:tblGrid>
              <a:tr h="279400">
                <a:tc>
                  <a:txBody>
                    <a:bodyPr/>
                    <a:lstStyle/>
                    <a:p>
                      <a:r>
                        <a:rPr lang="en-IN" sz="1600" b="1" dirty="0"/>
                        <a:t>MPI Reduction Operation</a:t>
                      </a:r>
                    </a:p>
                  </a:txBody>
                  <a:tcPr marL="47817" marR="47817" marT="23908" marB="239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B6C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Effect of the Reduction Operation</a:t>
                      </a:r>
                    </a:p>
                  </a:txBody>
                  <a:tcPr marL="47817" marR="47817" marT="23908" marB="239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B6C1"/>
                    </a:solidFill>
                  </a:tcPr>
                </a:tc>
              </a:tr>
              <a:tr h="238441">
                <a:tc>
                  <a:txBody>
                    <a:bodyPr/>
                    <a:lstStyle/>
                    <a:p>
                      <a:r>
                        <a:rPr lang="en-IN" sz="1600" b="1" dirty="0"/>
                        <a:t>MPI_MAX</a:t>
                      </a:r>
                      <a:endParaRPr lang="en-IN" sz="1600" dirty="0"/>
                    </a:p>
                  </a:txBody>
                  <a:tcPr marL="47817" marR="47817" marT="23908" marB="239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Finds the maximum value</a:t>
                      </a:r>
                    </a:p>
                  </a:txBody>
                  <a:tcPr marL="47817" marR="47817" marT="23908" marB="239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E0"/>
                    </a:solidFill>
                  </a:tcPr>
                </a:tc>
              </a:tr>
              <a:tr h="238441">
                <a:tc>
                  <a:txBody>
                    <a:bodyPr/>
                    <a:lstStyle/>
                    <a:p>
                      <a:r>
                        <a:rPr lang="en-IN" sz="1600" b="1" dirty="0"/>
                        <a:t>MPI_MIN</a:t>
                      </a:r>
                      <a:endParaRPr lang="en-IN" sz="1600" dirty="0"/>
                    </a:p>
                  </a:txBody>
                  <a:tcPr marL="47817" marR="47817" marT="23908" marB="239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Finds the minimum value</a:t>
                      </a:r>
                    </a:p>
                  </a:txBody>
                  <a:tcPr marL="47817" marR="47817" marT="23908" marB="239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E0"/>
                    </a:solidFill>
                  </a:tcPr>
                </a:tc>
              </a:tr>
              <a:tr h="238441">
                <a:tc>
                  <a:txBody>
                    <a:bodyPr/>
                    <a:lstStyle/>
                    <a:p>
                      <a:r>
                        <a:rPr lang="en-IN" sz="1600" b="1" dirty="0"/>
                        <a:t>MPI_SUM</a:t>
                      </a:r>
                      <a:endParaRPr lang="en-IN" sz="1600" dirty="0"/>
                    </a:p>
                  </a:txBody>
                  <a:tcPr marL="47817" marR="47817" marT="23908" marB="239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Computes the sum of all value</a:t>
                      </a:r>
                    </a:p>
                  </a:txBody>
                  <a:tcPr marL="47817" marR="47817" marT="23908" marB="239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E0"/>
                    </a:solidFill>
                  </a:tcPr>
                </a:tc>
              </a:tr>
              <a:tr h="238441">
                <a:tc>
                  <a:txBody>
                    <a:bodyPr/>
                    <a:lstStyle/>
                    <a:p>
                      <a:r>
                        <a:rPr lang="en-IN" sz="1600" b="1" dirty="0"/>
                        <a:t>MPI_PROD</a:t>
                      </a:r>
                      <a:endParaRPr lang="en-IN" sz="1600" dirty="0"/>
                    </a:p>
                  </a:txBody>
                  <a:tcPr marL="47817" marR="47817" marT="23908" marB="239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Computes the product of all value</a:t>
                      </a:r>
                    </a:p>
                  </a:txBody>
                  <a:tcPr marL="47817" marR="47817" marT="23908" marB="239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E0"/>
                    </a:solidFill>
                  </a:tcPr>
                </a:tc>
              </a:tr>
              <a:tr h="437791">
                <a:tc>
                  <a:txBody>
                    <a:bodyPr/>
                    <a:lstStyle/>
                    <a:p>
                      <a:r>
                        <a:rPr lang="en-IN" sz="1600" b="1" dirty="0"/>
                        <a:t>MPI_LAND</a:t>
                      </a:r>
                      <a:endParaRPr lang="en-IN" sz="1600" dirty="0"/>
                    </a:p>
                  </a:txBody>
                  <a:tcPr marL="47817" marR="47817" marT="23908" marB="239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Computes the "logical AND" of all value (0 = false, non-zero = true)</a:t>
                      </a:r>
                    </a:p>
                  </a:txBody>
                  <a:tcPr marL="47817" marR="47817" marT="23908" marB="239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E0"/>
                    </a:solidFill>
                  </a:tcPr>
                </a:tc>
              </a:tr>
              <a:tr h="238441">
                <a:tc>
                  <a:txBody>
                    <a:bodyPr/>
                    <a:lstStyle/>
                    <a:p>
                      <a:r>
                        <a:rPr lang="en-IN" sz="1600" b="1" dirty="0"/>
                        <a:t>MPI_BAND</a:t>
                      </a:r>
                      <a:endParaRPr lang="en-IN" sz="1600" dirty="0"/>
                    </a:p>
                  </a:txBody>
                  <a:tcPr marL="47817" marR="47817" marT="23908" marB="239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Computes the "Bitwise AND" of all value</a:t>
                      </a:r>
                    </a:p>
                  </a:txBody>
                  <a:tcPr marL="47817" marR="47817" marT="23908" marB="239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E0"/>
                    </a:solidFill>
                  </a:tcPr>
                </a:tc>
              </a:tr>
              <a:tr h="437791">
                <a:tc>
                  <a:txBody>
                    <a:bodyPr/>
                    <a:lstStyle/>
                    <a:p>
                      <a:r>
                        <a:rPr lang="en-IN" sz="1600" b="1" dirty="0"/>
                        <a:t>MPI_LOR</a:t>
                      </a:r>
                      <a:endParaRPr lang="en-IN" sz="1600" dirty="0"/>
                    </a:p>
                  </a:txBody>
                  <a:tcPr marL="47817" marR="47817" marT="23908" marB="239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Computes the "logical OR" of all value (0 = false, non-zero = true)</a:t>
                      </a:r>
                    </a:p>
                  </a:txBody>
                  <a:tcPr marL="47817" marR="47817" marT="23908" marB="239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E0"/>
                    </a:solidFill>
                  </a:tcPr>
                </a:tc>
              </a:tr>
              <a:tr h="238441">
                <a:tc>
                  <a:txBody>
                    <a:bodyPr/>
                    <a:lstStyle/>
                    <a:p>
                      <a:r>
                        <a:rPr lang="en-IN" sz="1600" b="1" dirty="0"/>
                        <a:t>MPI_BOR</a:t>
                      </a:r>
                      <a:endParaRPr lang="en-IN" sz="1600" dirty="0"/>
                    </a:p>
                  </a:txBody>
                  <a:tcPr marL="47817" marR="47817" marT="23908" marB="239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Computes the "Bitwise OR" of all value</a:t>
                      </a:r>
                    </a:p>
                  </a:txBody>
                  <a:tcPr marL="47817" marR="47817" marT="23908" marB="239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E0"/>
                    </a:solidFill>
                  </a:tcPr>
                </a:tc>
              </a:tr>
              <a:tr h="437791">
                <a:tc>
                  <a:txBody>
                    <a:bodyPr/>
                    <a:lstStyle/>
                    <a:p>
                      <a:r>
                        <a:rPr lang="en-IN" sz="1600" b="1" dirty="0"/>
                        <a:t>MPI_LXOR</a:t>
                      </a:r>
                      <a:endParaRPr lang="en-IN" sz="1600" dirty="0"/>
                    </a:p>
                  </a:txBody>
                  <a:tcPr marL="47817" marR="47817" marT="23908" marB="239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Computes the "logical XOR" of all value (0 = false, non-zero = true)</a:t>
                      </a:r>
                    </a:p>
                  </a:txBody>
                  <a:tcPr marL="47817" marR="47817" marT="23908" marB="239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E0"/>
                    </a:solidFill>
                  </a:tcPr>
                </a:tc>
              </a:tr>
              <a:tr h="238441">
                <a:tc>
                  <a:txBody>
                    <a:bodyPr/>
                    <a:lstStyle/>
                    <a:p>
                      <a:r>
                        <a:rPr lang="en-IN" sz="1600" b="1" dirty="0"/>
                        <a:t>MPI_BXOR</a:t>
                      </a:r>
                      <a:endParaRPr lang="en-IN" sz="1600" dirty="0"/>
                    </a:p>
                  </a:txBody>
                  <a:tcPr marL="47817" marR="47817" marT="23908" marB="239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Computes the "Bitwise XOR" of all value</a:t>
                      </a:r>
                    </a:p>
                  </a:txBody>
                  <a:tcPr marL="47817" marR="47817" marT="23908" marB="239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E0"/>
                    </a:solidFill>
                  </a:tcPr>
                </a:tc>
              </a:tr>
              <a:tr h="836491">
                <a:tc>
                  <a:txBody>
                    <a:bodyPr/>
                    <a:lstStyle/>
                    <a:p>
                      <a:r>
                        <a:rPr lang="en-IN" sz="1600" b="1" dirty="0"/>
                        <a:t>MPI_MAXLOC</a:t>
                      </a:r>
                      <a:endParaRPr lang="en-IN" sz="1600" dirty="0"/>
                    </a:p>
                  </a:txBody>
                  <a:tcPr marL="47817" marR="47817" marT="23908" marB="239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Find the maximum value and the processor ID that has the value </a:t>
                      </a:r>
                      <a:br>
                        <a:rPr lang="en-US" sz="2000" dirty="0"/>
                      </a:br>
                      <a:r>
                        <a:rPr lang="en-US" sz="2000" dirty="0"/>
                        <a:t>(you need to pass a structure with these 2 elements: (double value, </a:t>
                      </a:r>
                      <a:r>
                        <a:rPr lang="en-US" sz="2000" dirty="0" err="1"/>
                        <a:t>int</a:t>
                      </a:r>
                      <a:r>
                        <a:rPr lang="en-US" sz="2000" dirty="0"/>
                        <a:t> rank))</a:t>
                      </a:r>
                    </a:p>
                  </a:txBody>
                  <a:tcPr marL="47817" marR="47817" marT="23908" marB="239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E0"/>
                    </a:solidFill>
                  </a:tcPr>
                </a:tc>
              </a:tr>
              <a:tr h="836491">
                <a:tc>
                  <a:txBody>
                    <a:bodyPr/>
                    <a:lstStyle/>
                    <a:p>
                      <a:r>
                        <a:rPr lang="en-IN" sz="1600" b="1" dirty="0"/>
                        <a:t>MPI_MINLOC</a:t>
                      </a:r>
                      <a:endParaRPr lang="en-IN" sz="1600" dirty="0"/>
                    </a:p>
                  </a:txBody>
                  <a:tcPr marL="47817" marR="47817" marT="23908" marB="239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Find the minimum value and the processor ID that has the value </a:t>
                      </a:r>
                      <a:br>
                        <a:rPr lang="en-US" sz="2000" dirty="0"/>
                      </a:br>
                      <a:r>
                        <a:rPr lang="en-US" sz="2000" dirty="0"/>
                        <a:t>(you need to pass a structure with these 2 elements: (double value, </a:t>
                      </a:r>
                      <a:r>
                        <a:rPr lang="en-US" sz="2000" dirty="0" err="1"/>
                        <a:t>int</a:t>
                      </a:r>
                      <a:r>
                        <a:rPr lang="en-US" sz="2000" dirty="0"/>
                        <a:t> rank))</a:t>
                      </a:r>
                    </a:p>
                  </a:txBody>
                  <a:tcPr marL="47817" marR="47817" marT="23908" marB="239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E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16584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1867" t="24777" r="15598" b="39525"/>
          <a:stretch/>
        </p:blipFill>
        <p:spPr>
          <a:xfrm>
            <a:off x="545814" y="100625"/>
            <a:ext cx="11527392" cy="5694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08983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1374" y="0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latin typeface="Agency FB" panose="020B0503020202020204" pitchFamily="34" charset="0"/>
              </a:rPr>
              <a:t>MPI's Group </a:t>
            </a:r>
            <a:r>
              <a:rPr lang="en-IN" b="1" dirty="0" smtClean="0">
                <a:latin typeface="Agency FB" panose="020B0503020202020204" pitchFamily="34" charset="0"/>
              </a:rPr>
              <a:t>Communication</a:t>
            </a:r>
            <a:endParaRPr lang="en-IN" b="1" dirty="0">
              <a:latin typeface="Agency FB" panose="020B0503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l="32535" t="32293" r="26268" b="12094"/>
          <a:stretch/>
        </p:blipFill>
        <p:spPr>
          <a:xfrm>
            <a:off x="1004141" y="1030311"/>
            <a:ext cx="3682228" cy="279471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l="32747" t="30977" r="26690" b="11530"/>
          <a:stretch/>
        </p:blipFill>
        <p:spPr>
          <a:xfrm>
            <a:off x="7076336" y="3825027"/>
            <a:ext cx="3644722" cy="290438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4"/>
          <a:srcRect l="28416" t="31540" r="26479" b="10215"/>
          <a:stretch/>
        </p:blipFill>
        <p:spPr>
          <a:xfrm>
            <a:off x="6486933" y="1024009"/>
            <a:ext cx="4018209" cy="291720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5"/>
          <a:srcRect l="31585" t="29286" r="24261" b="10216"/>
          <a:stretch/>
        </p:blipFill>
        <p:spPr>
          <a:xfrm>
            <a:off x="1008290" y="3908876"/>
            <a:ext cx="3678079" cy="2833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7308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Platshållare för sidfot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mtClean="0"/>
              <a:t>DSII: Group Comm.</a:t>
            </a:r>
          </a:p>
        </p:txBody>
      </p:sp>
      <p:sp>
        <p:nvSpPr>
          <p:cNvPr id="8195" name="Platshållare för bildnumm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905236A-C2A4-4F36-B88A-8F525A210AF1}" type="slidenum">
              <a:rPr lang="en-US" altLang="en-US"/>
              <a:pPr/>
              <a:t>21</a:t>
            </a:fld>
            <a:endParaRPr lang="en-US" altLang="en-US"/>
          </a:p>
        </p:txBody>
      </p:sp>
      <p:sp>
        <p:nvSpPr>
          <p:cNvPr id="8196" name="Rectangle 2"/>
          <p:cNvSpPr>
            <a:spLocks noGrp="1" noChangeArrowheads="1"/>
          </p:cNvSpPr>
          <p:nvPr>
            <p:ph type="title"/>
          </p:nvPr>
        </p:nvSpPr>
        <p:spPr>
          <a:xfrm>
            <a:off x="1752600" y="152400"/>
            <a:ext cx="8763000" cy="1143000"/>
          </a:xfrm>
        </p:spPr>
        <p:txBody>
          <a:bodyPr/>
          <a:lstStyle/>
          <a:p>
            <a:pPr eaLnBrk="1" hangingPunct="1"/>
            <a:r>
              <a:rPr lang="en-US" altLang="zh-CN" sz="4000" b="1" dirty="0">
                <a:ea typeface="SimSun" panose="02010600030101010101" pitchFamily="2" charset="-122"/>
              </a:rPr>
              <a:t>Coordination in distributed systems</a:t>
            </a:r>
            <a:endParaRPr lang="en-US" altLang="en-US" sz="4000" b="1" dirty="0"/>
          </a:p>
        </p:txBody>
      </p:sp>
      <p:sp>
        <p:nvSpPr>
          <p:cNvPr id="819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0761" y="1371601"/>
            <a:ext cx="10715222" cy="4754563"/>
          </a:xfrm>
        </p:spPr>
        <p:txBody>
          <a:bodyPr/>
          <a:lstStyle/>
          <a:p>
            <a:pPr eaLnBrk="1" hangingPunct="1"/>
            <a:r>
              <a:rPr lang="en-US" altLang="zh-CN" dirty="0">
                <a:ea typeface="SimSun" panose="02010600030101010101" pitchFamily="2" charset="-122"/>
              </a:rPr>
              <a:t>Coordination is needed by distributed systems but hard to achieve:</a:t>
            </a:r>
          </a:p>
          <a:p>
            <a:pPr lvl="1" eaLnBrk="1" hangingPunct="1"/>
            <a:r>
              <a:rPr lang="en-US" altLang="zh-CN" dirty="0">
                <a:ea typeface="SimSun" panose="02010600030101010101" pitchFamily="2" charset="-122"/>
              </a:rPr>
              <a:t>Events happen concurrently</a:t>
            </a:r>
          </a:p>
          <a:p>
            <a:pPr lvl="1" eaLnBrk="1" hangingPunct="1"/>
            <a:r>
              <a:rPr lang="en-US" altLang="zh-CN" dirty="0">
                <a:ea typeface="SimSun" panose="02010600030101010101" pitchFamily="2" charset="-122"/>
              </a:rPr>
              <a:t>Communication links are not reliable</a:t>
            </a:r>
          </a:p>
          <a:p>
            <a:pPr lvl="1" eaLnBrk="1" hangingPunct="1"/>
            <a:r>
              <a:rPr lang="en-US" altLang="zh-CN" dirty="0">
                <a:ea typeface="SimSun" panose="02010600030101010101" pitchFamily="2" charset="-122"/>
              </a:rPr>
              <a:t>Computers can crash</a:t>
            </a:r>
          </a:p>
          <a:p>
            <a:pPr lvl="1" eaLnBrk="1" hangingPunct="1"/>
            <a:r>
              <a:rPr lang="en-US" altLang="zh-CN" dirty="0">
                <a:ea typeface="SimSun" panose="02010600030101010101" pitchFamily="2" charset="-122"/>
              </a:rPr>
              <a:t>New nodes can join the systems</a:t>
            </a:r>
          </a:p>
          <a:p>
            <a:pPr lvl="1" eaLnBrk="1" hangingPunct="1"/>
            <a:r>
              <a:rPr lang="sv-SE" altLang="zh-CN" dirty="0">
                <a:ea typeface="SimSun" panose="02010600030101010101" pitchFamily="2" charset="-122"/>
              </a:rPr>
              <a:t>Asynchronous environments</a:t>
            </a:r>
          </a:p>
          <a:p>
            <a:pPr lvl="1" eaLnBrk="1" hangingPunct="1"/>
            <a:endParaRPr lang="en-US" altLang="zh-CN" dirty="0">
              <a:ea typeface="SimSun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en-US" altLang="zh-CN" dirty="0">
                <a:ea typeface="SimSun" panose="02010600030101010101" pitchFamily="2" charset="-122"/>
                <a:sym typeface="Symbol" panose="05050102010706020507" pitchFamily="18" charset="2"/>
              </a:rPr>
              <a:t> Need of an efficient way to coordinate a group of </a:t>
            </a:r>
            <a:r>
              <a:rPr lang="en-US" altLang="zh-CN" dirty="0" smtClean="0">
                <a:ea typeface="SimSun" panose="02010600030101010101" pitchFamily="2" charset="-122"/>
                <a:sym typeface="Symbol" panose="05050102010706020507" pitchFamily="18" charset="2"/>
              </a:rPr>
              <a:t>processes.</a:t>
            </a:r>
            <a:endParaRPr lang="en-US" altLang="zh-CN" dirty="0">
              <a:ea typeface="SimSun" panose="02010600030101010101" pitchFamily="2" charset="-122"/>
              <a:sym typeface="Symbol" panose="05050102010706020507" pitchFamily="18" charset="2"/>
            </a:endParaRPr>
          </a:p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104001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5211</TotalTime>
  <Words>771</Words>
  <Application>Microsoft Office PowerPoint</Application>
  <PresentationFormat>Widescreen</PresentationFormat>
  <Paragraphs>145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0" baseType="lpstr">
      <vt:lpstr>Arial Unicode MS</vt:lpstr>
      <vt:lpstr>SimSun</vt:lpstr>
      <vt:lpstr>Agency FB</vt:lpstr>
      <vt:lpstr>Arial</vt:lpstr>
      <vt:lpstr>Calibri</vt:lpstr>
      <vt:lpstr>Calibri Light</vt:lpstr>
      <vt:lpstr>Symbol</vt:lpstr>
      <vt:lpstr>Times New Roman</vt:lpstr>
      <vt:lpstr>Office Theme</vt:lpstr>
      <vt:lpstr>PowerPoint Presentation</vt:lpstr>
      <vt:lpstr>Different Comm. Methods</vt:lpstr>
      <vt:lpstr>Group communication</vt:lpstr>
      <vt:lpstr>key areas of application </vt:lpstr>
      <vt:lpstr>Group communication</vt:lpstr>
      <vt:lpstr>PowerPoint Presentation</vt:lpstr>
      <vt:lpstr>Group Communication Primitives</vt:lpstr>
      <vt:lpstr>Group Communication Primitives</vt:lpstr>
      <vt:lpstr>The Broadcast Group Communication Primitive</vt:lpstr>
      <vt:lpstr>The Broadcast Group Communication Primitive</vt:lpstr>
      <vt:lpstr>Scatter Group Communication primitive</vt:lpstr>
      <vt:lpstr>Scatter Group Communication primitive</vt:lpstr>
      <vt:lpstr>Gather Group Communication primitives</vt:lpstr>
      <vt:lpstr>Gather Group Communication primitives</vt:lpstr>
      <vt:lpstr>Reduce Group Communication primitives</vt:lpstr>
      <vt:lpstr>Reduce Group Communication primitives</vt:lpstr>
      <vt:lpstr>PowerPoint Presentation</vt:lpstr>
      <vt:lpstr>Available Reduction Operations: (directly from MPI)</vt:lpstr>
      <vt:lpstr>PowerPoint Presentation</vt:lpstr>
      <vt:lpstr>MPI's Group Communication</vt:lpstr>
      <vt:lpstr>Coordination in distributed systems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Unit- 1</dc:title>
  <dc:creator>Admin</dc:creator>
  <cp:lastModifiedBy>Admin</cp:lastModifiedBy>
  <cp:revision>55</cp:revision>
  <dcterms:created xsi:type="dcterms:W3CDTF">2018-07-18T09:03:44Z</dcterms:created>
  <dcterms:modified xsi:type="dcterms:W3CDTF">2022-03-21T09:40:35Z</dcterms:modified>
</cp:coreProperties>
</file>