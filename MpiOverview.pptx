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359" r:id="rId3"/>
    <p:sldId id="360" r:id="rId4"/>
    <p:sldId id="335" r:id="rId5"/>
    <p:sldId id="324" r:id="rId6"/>
    <p:sldId id="333" r:id="rId7"/>
    <p:sldId id="361" r:id="rId8"/>
    <p:sldId id="326" r:id="rId9"/>
    <p:sldId id="327" r:id="rId10"/>
    <p:sldId id="338" r:id="rId11"/>
    <p:sldId id="337" r:id="rId12"/>
    <p:sldId id="332" r:id="rId13"/>
    <p:sldId id="348" r:id="rId14"/>
    <p:sldId id="349" r:id="rId15"/>
    <p:sldId id="350" r:id="rId16"/>
    <p:sldId id="334" r:id="rId17"/>
    <p:sldId id="339" r:id="rId18"/>
    <p:sldId id="362" r:id="rId19"/>
    <p:sldId id="340" r:id="rId20"/>
    <p:sldId id="341" r:id="rId21"/>
    <p:sldId id="342" r:id="rId22"/>
    <p:sldId id="343" r:id="rId23"/>
    <p:sldId id="336" r:id="rId24"/>
    <p:sldId id="363" r:id="rId25"/>
    <p:sldId id="364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60"/>
  </p:normalViewPr>
  <p:slideViewPr>
    <p:cSldViewPr snapToGrid="0">
      <p:cViewPr varScale="1">
        <p:scale>
          <a:sx n="70" d="100"/>
          <a:sy n="70" d="100"/>
        </p:scale>
        <p:origin x="7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0E0A8C-F4F9-41A8-B916-1C44DA263C2C}" type="datetimeFigureOut">
              <a:rPr lang="en-IN" smtClean="0"/>
              <a:t>07-03-2022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6FEB6B-4824-4B3B-8FF8-4083958DFA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02051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smtClean="0"/>
              <a:t>Master slave example. Merge sort example. 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Portable to all major parallel architectures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6FEB6B-4824-4B3B-8FF8-4083958DFA7F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115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6FEB6B-4824-4B3B-8FF8-4083958DFA7F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70558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B3A51-123F-4E15-87BC-DD6C3C37626A}" type="datetimeFigureOut">
              <a:rPr lang="en-IN" smtClean="0"/>
              <a:t>07-03-2022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DC97B-9798-4493-A6B7-40E015937D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8955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B3A51-123F-4E15-87BC-DD6C3C37626A}" type="datetimeFigureOut">
              <a:rPr lang="en-IN" smtClean="0"/>
              <a:t>07-03-2022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DC97B-9798-4493-A6B7-40E015937D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7466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B3A51-123F-4E15-87BC-DD6C3C37626A}" type="datetimeFigureOut">
              <a:rPr lang="en-IN" smtClean="0"/>
              <a:t>07-03-2022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DC97B-9798-4493-A6B7-40E015937D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169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B3A51-123F-4E15-87BC-DD6C3C37626A}" type="datetimeFigureOut">
              <a:rPr lang="en-IN" smtClean="0"/>
              <a:t>07-03-2022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DC97B-9798-4493-A6B7-40E015937D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70458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B3A51-123F-4E15-87BC-DD6C3C37626A}" type="datetimeFigureOut">
              <a:rPr lang="en-IN" smtClean="0"/>
              <a:t>07-03-2022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DC97B-9798-4493-A6B7-40E015937D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8685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B3A51-123F-4E15-87BC-DD6C3C37626A}" type="datetimeFigureOut">
              <a:rPr lang="en-IN" smtClean="0"/>
              <a:t>07-03-2022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DC97B-9798-4493-A6B7-40E015937D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69681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B3A51-123F-4E15-87BC-DD6C3C37626A}" type="datetimeFigureOut">
              <a:rPr lang="en-IN" smtClean="0"/>
              <a:t>07-03-2022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DC97B-9798-4493-A6B7-40E015937D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07062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B3A51-123F-4E15-87BC-DD6C3C37626A}" type="datetimeFigureOut">
              <a:rPr lang="en-IN" smtClean="0"/>
              <a:t>07-03-2022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DC97B-9798-4493-A6B7-40E015937D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46631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B3A51-123F-4E15-87BC-DD6C3C37626A}" type="datetimeFigureOut">
              <a:rPr lang="en-IN" smtClean="0"/>
              <a:t>07-03-2022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DC97B-9798-4493-A6B7-40E015937D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8344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B3A51-123F-4E15-87BC-DD6C3C37626A}" type="datetimeFigureOut">
              <a:rPr lang="en-IN" smtClean="0"/>
              <a:t>07-03-2022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DC97B-9798-4493-A6B7-40E015937D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20154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B3A51-123F-4E15-87BC-DD6C3C37626A}" type="datetimeFigureOut">
              <a:rPr lang="en-IN" smtClean="0"/>
              <a:t>07-03-2022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DC97B-9798-4493-A6B7-40E015937D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10055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FB3A51-123F-4E15-87BC-DD6C3C37626A}" type="datetimeFigureOut">
              <a:rPr lang="en-IN" smtClean="0"/>
              <a:t>07-03-2022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0DC97B-9798-4493-A6B7-40E015937D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8142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overview of </a:t>
            </a:r>
            <a:r>
              <a:rPr lang="en-US" sz="3600" b="1" dirty="0" smtClean="0"/>
              <a:t>MPI</a:t>
            </a:r>
            <a:endParaRPr lang="en-IN" sz="3600" b="1" dirty="0"/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209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059940" y="499132"/>
            <a:ext cx="6017260" cy="720069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IN" sz="4600" spc="-90" dirty="0">
                <a:latin typeface="Cambria"/>
                <a:cs typeface="Cambria"/>
              </a:rPr>
              <a:t>Why </a:t>
            </a:r>
            <a:r>
              <a:rPr sz="4600" spc="-90" dirty="0">
                <a:latin typeface="Cambria"/>
                <a:cs typeface="Cambria"/>
              </a:rPr>
              <a:t>Message</a:t>
            </a:r>
            <a:r>
              <a:rPr sz="4600" spc="-254" dirty="0">
                <a:latin typeface="Cambria"/>
                <a:cs typeface="Cambria"/>
              </a:rPr>
              <a:t> </a:t>
            </a:r>
            <a:r>
              <a:rPr sz="4600" spc="-100" dirty="0">
                <a:latin typeface="Cambria"/>
                <a:cs typeface="Cambria"/>
              </a:rPr>
              <a:t>Passing</a:t>
            </a:r>
            <a:endParaRPr sz="4600" dirty="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47969" y="1944253"/>
            <a:ext cx="9685664" cy="37388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5080" indent="-228600" algn="just">
              <a:spcBef>
                <a:spcPts val="95"/>
              </a:spcBef>
              <a:buClr>
                <a:srgbClr val="A9A47B"/>
              </a:buClr>
              <a:buFont typeface="Arial"/>
              <a:buChar char="•"/>
              <a:tabLst>
                <a:tab pos="241300" algn="l"/>
              </a:tabLst>
            </a:pPr>
            <a:r>
              <a:rPr lang="en-US" sz="2400" dirty="0"/>
              <a:t>A parallel computation consists of a number of processes, each working on some local data. Each process has purely local variables, and there is no mechanism for any process to directly access the memory of another.</a:t>
            </a:r>
          </a:p>
          <a:p>
            <a:pPr marL="241300" marR="5080" indent="-228600" algn="just">
              <a:spcBef>
                <a:spcPts val="95"/>
              </a:spcBef>
              <a:buClr>
                <a:srgbClr val="A9A47B"/>
              </a:buClr>
              <a:buFont typeface="Arial"/>
              <a:buChar char="•"/>
              <a:tabLst>
                <a:tab pos="241300" algn="l"/>
              </a:tabLst>
            </a:pPr>
            <a:endParaRPr lang="en-US" sz="2400" dirty="0"/>
          </a:p>
          <a:p>
            <a:pPr marL="241300" marR="5080" indent="-228600" algn="just">
              <a:spcBef>
                <a:spcPts val="95"/>
              </a:spcBef>
              <a:buClr>
                <a:srgbClr val="A9A47B"/>
              </a:buClr>
              <a:buFont typeface="Arial"/>
              <a:buChar char="•"/>
              <a:tabLst>
                <a:tab pos="241300" algn="l"/>
              </a:tabLst>
            </a:pPr>
            <a:r>
              <a:rPr lang="en-US" sz="2400" dirty="0"/>
              <a:t>Sharing of data between processes takes place by message passing, that is, by explicitly sending and receiving data between processes. </a:t>
            </a:r>
          </a:p>
          <a:p>
            <a:pPr marL="241300" marR="5080" indent="-228600" algn="just">
              <a:spcBef>
                <a:spcPts val="95"/>
              </a:spcBef>
              <a:buClr>
                <a:srgbClr val="A9A47B"/>
              </a:buClr>
              <a:buFont typeface="Arial"/>
              <a:buChar char="•"/>
              <a:tabLst>
                <a:tab pos="241300" algn="l"/>
              </a:tabLst>
            </a:pPr>
            <a:endParaRPr lang="en-US" sz="2400" dirty="0"/>
          </a:p>
          <a:p>
            <a:pPr marL="241300" marR="5080" indent="-228600" algn="just">
              <a:spcBef>
                <a:spcPts val="95"/>
              </a:spcBef>
              <a:buClr>
                <a:srgbClr val="A9A47B"/>
              </a:buClr>
              <a:buFont typeface="Arial"/>
              <a:buChar char="•"/>
              <a:tabLst>
                <a:tab pos="241300" algn="l"/>
              </a:tabLst>
            </a:pPr>
            <a:r>
              <a:rPr lang="en-US" sz="2400" dirty="0">
                <a:solidFill>
                  <a:prstClr val="black"/>
                </a:solidFill>
              </a:rPr>
              <a:t>Message passing is the basis of most inter-process  communication in distributed systems.</a:t>
            </a:r>
          </a:p>
          <a:p>
            <a:pPr marL="241300" marR="5080" indent="-228600" algn="just">
              <a:spcBef>
                <a:spcPts val="95"/>
              </a:spcBef>
              <a:buClr>
                <a:srgbClr val="A9A47B"/>
              </a:buClr>
              <a:buFont typeface="Arial"/>
              <a:buChar char="•"/>
              <a:tabLst>
                <a:tab pos="241300" algn="l"/>
              </a:tabLst>
            </a:pPr>
            <a:endParaRPr sz="2200" dirty="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0056114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71119" y="396240"/>
                </a:moveTo>
                <a:lnTo>
                  <a:pt x="43451" y="390651"/>
                </a:lnTo>
                <a:lnTo>
                  <a:pt x="20843" y="375410"/>
                </a:lnTo>
                <a:lnTo>
                  <a:pt x="5593" y="352804"/>
                </a:lnTo>
                <a:lnTo>
                  <a:pt x="0" y="325120"/>
                </a:lnTo>
                <a:lnTo>
                  <a:pt x="0" y="71120"/>
                </a:lnTo>
                <a:lnTo>
                  <a:pt x="5593" y="43435"/>
                </a:lnTo>
                <a:lnTo>
                  <a:pt x="20843" y="20829"/>
                </a:lnTo>
                <a:lnTo>
                  <a:pt x="43451" y="5588"/>
                </a:lnTo>
                <a:lnTo>
                  <a:pt x="71119" y="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0533633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0" y="0"/>
                </a:moveTo>
                <a:lnTo>
                  <a:pt x="27668" y="5588"/>
                </a:lnTo>
                <a:lnTo>
                  <a:pt x="50276" y="20829"/>
                </a:lnTo>
                <a:lnTo>
                  <a:pt x="65526" y="43435"/>
                </a:lnTo>
                <a:lnTo>
                  <a:pt x="71120" y="71120"/>
                </a:lnTo>
                <a:lnTo>
                  <a:pt x="71120" y="325120"/>
                </a:lnTo>
                <a:lnTo>
                  <a:pt x="65526" y="352804"/>
                </a:lnTo>
                <a:lnTo>
                  <a:pt x="50276" y="375410"/>
                </a:lnTo>
                <a:lnTo>
                  <a:pt x="27668" y="390651"/>
                </a:lnTo>
                <a:lnTo>
                  <a:pt x="0" y="39624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9982200" y="5683097"/>
            <a:ext cx="685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algn="ctr">
              <a:spcBef>
                <a:spcPts val="100"/>
              </a:spcBef>
            </a:pPr>
            <a:r>
              <a:rPr dirty="0">
                <a:solidFill>
                  <a:srgbClr val="FFFFFF"/>
                </a:solidFill>
                <a:latin typeface="Calibri"/>
                <a:cs typeface="Calibri"/>
              </a:rPr>
              <a:t>6</a:t>
            </a:r>
            <a:endParaRPr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33121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05083" y="498327"/>
            <a:ext cx="5791200" cy="720069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784985" algn="l"/>
              </a:tabLst>
            </a:pPr>
            <a:r>
              <a:rPr sz="4600" spc="-90" dirty="0">
                <a:latin typeface="Cambria"/>
                <a:cs typeface="Cambria"/>
              </a:rPr>
              <a:t>MESSAGE</a:t>
            </a:r>
            <a:r>
              <a:rPr lang="en-IN" sz="4600" spc="-90" dirty="0">
                <a:latin typeface="Cambria"/>
                <a:cs typeface="Cambria"/>
              </a:rPr>
              <a:t> </a:t>
            </a:r>
            <a:r>
              <a:rPr sz="4600" spc="-90" dirty="0">
                <a:latin typeface="Cambria"/>
                <a:cs typeface="Cambria"/>
              </a:rPr>
              <a:t>PASSING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52600" y="1524001"/>
            <a:ext cx="7785100" cy="498405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marR="139700" indent="-286385" algn="just">
              <a:spcBef>
                <a:spcPts val="105"/>
              </a:spcBef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2400" spc="-5" dirty="0">
                <a:latin typeface="Calibri"/>
                <a:cs typeface="Calibri"/>
              </a:rPr>
              <a:t>Message passing </a:t>
            </a:r>
            <a:r>
              <a:rPr sz="2400" dirty="0">
                <a:latin typeface="Calibri"/>
                <a:cs typeface="Calibri"/>
              </a:rPr>
              <a:t>is a </a:t>
            </a:r>
            <a:r>
              <a:rPr sz="2400" spc="-10" dirty="0">
                <a:latin typeface="Calibri"/>
                <a:cs typeface="Calibri"/>
              </a:rPr>
              <a:t>paradiagram </a:t>
            </a:r>
            <a:r>
              <a:rPr sz="2400" spc="-5" dirty="0">
                <a:latin typeface="Calibri"/>
                <a:cs typeface="Calibri"/>
              </a:rPr>
              <a:t>of communication where  messages </a:t>
            </a:r>
            <a:r>
              <a:rPr sz="2400" spc="-10" dirty="0">
                <a:latin typeface="Calibri"/>
                <a:cs typeface="Calibri"/>
              </a:rPr>
              <a:t>are sent </a:t>
            </a:r>
            <a:r>
              <a:rPr sz="2400" spc="-15" dirty="0">
                <a:latin typeface="Calibri"/>
                <a:cs typeface="Calibri"/>
              </a:rPr>
              <a:t>from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b="1" spc="-5" dirty="0">
                <a:latin typeface="Calibri"/>
                <a:cs typeface="Calibri"/>
              </a:rPr>
              <a:t>sender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dirty="0">
                <a:latin typeface="Calibri"/>
                <a:cs typeface="Calibri"/>
              </a:rPr>
              <a:t>one </a:t>
            </a:r>
            <a:r>
              <a:rPr sz="2400" spc="-5" dirty="0">
                <a:latin typeface="Calibri"/>
                <a:cs typeface="Calibri"/>
              </a:rPr>
              <a:t>or </a:t>
            </a:r>
            <a:r>
              <a:rPr sz="2400" spc="-10" dirty="0">
                <a:latin typeface="Calibri"/>
                <a:cs typeface="Calibri"/>
              </a:rPr>
              <a:t>more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recipient</a:t>
            </a:r>
            <a:r>
              <a:rPr sz="2400" spc="-5" dirty="0">
                <a:latin typeface="Calibri"/>
                <a:cs typeface="Calibri"/>
              </a:rPr>
              <a:t>.</a:t>
            </a:r>
            <a:endParaRPr lang="en-IN" sz="2400" spc="-5" dirty="0">
              <a:latin typeface="Calibri"/>
              <a:cs typeface="Calibri"/>
            </a:endParaRPr>
          </a:p>
          <a:p>
            <a:pPr marL="299085" marR="139700" indent="-286385" algn="just">
              <a:spcBef>
                <a:spcPts val="105"/>
              </a:spcBef>
              <a:buFont typeface="Arial"/>
              <a:buChar char="•"/>
              <a:tabLst>
                <a:tab pos="299085" algn="l"/>
                <a:tab pos="299720" algn="l"/>
              </a:tabLst>
            </a:pPr>
            <a:endParaRPr lang="en-IN" sz="2400" spc="-5" dirty="0">
              <a:latin typeface="Calibri"/>
              <a:cs typeface="Calibri"/>
            </a:endParaRPr>
          </a:p>
          <a:p>
            <a:pPr marL="299085" marR="139700" indent="-286385" algn="just">
              <a:spcBef>
                <a:spcPts val="105"/>
              </a:spcBef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lang="en-US" sz="2400" dirty="0"/>
              <a:t>Message passing is used widely on parallel computers with distributed memory and on clusters of servers.</a:t>
            </a:r>
          </a:p>
          <a:p>
            <a:endParaRPr lang="en-US" sz="2400" dirty="0"/>
          </a:p>
          <a:p>
            <a:r>
              <a:rPr sz="2400" spc="5" dirty="0">
                <a:latin typeface="Calibri"/>
                <a:cs typeface="Calibri"/>
              </a:rPr>
              <a:t>OR</a:t>
            </a:r>
            <a:endParaRPr lang="en-IN" sz="2400" spc="5" dirty="0">
              <a:latin typeface="Calibri"/>
              <a:cs typeface="Calibri"/>
            </a:endParaRPr>
          </a:p>
          <a:p>
            <a:pPr marL="12700" algn="just">
              <a:spcBef>
                <a:spcPts val="800"/>
              </a:spcBef>
            </a:pPr>
            <a:endParaRPr sz="2400" dirty="0">
              <a:latin typeface="Calibri"/>
              <a:cs typeface="Calibri"/>
            </a:endParaRPr>
          </a:p>
          <a:p>
            <a:pPr marL="299085" indent="-286385" algn="just">
              <a:spcBef>
                <a:spcPts val="795"/>
              </a:spcBef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2400" spc="-5" dirty="0">
                <a:latin typeface="Calibri"/>
                <a:cs typeface="Calibri"/>
              </a:rPr>
              <a:t>Message passing </a:t>
            </a:r>
            <a:r>
              <a:rPr sz="2400" spc="-25" dirty="0">
                <a:latin typeface="Calibri"/>
                <a:cs typeface="Calibri"/>
              </a:rPr>
              <a:t>refers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spc="-5" dirty="0">
                <a:latin typeface="Calibri"/>
                <a:cs typeface="Calibri"/>
              </a:rPr>
              <a:t>mean of communication</a:t>
            </a:r>
            <a:r>
              <a:rPr sz="2400" spc="8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between:</a:t>
            </a:r>
            <a:endParaRPr sz="2400" dirty="0">
              <a:latin typeface="Calibri"/>
              <a:cs typeface="Calibri"/>
            </a:endParaRPr>
          </a:p>
          <a:p>
            <a:pPr marL="469900" indent="-457200" algn="just">
              <a:spcBef>
                <a:spcPts val="805"/>
              </a:spcBef>
              <a:buAutoNum type="arabicPeriod"/>
              <a:tabLst>
                <a:tab pos="469900" algn="l"/>
                <a:tab pos="470534" algn="l"/>
              </a:tabLst>
            </a:pPr>
            <a:r>
              <a:rPr sz="2400" spc="-15" dirty="0">
                <a:latin typeface="Calibri"/>
                <a:cs typeface="Calibri"/>
              </a:rPr>
              <a:t>Different </a:t>
            </a:r>
            <a:r>
              <a:rPr sz="2400" spc="-5" dirty="0">
                <a:latin typeface="Calibri"/>
                <a:cs typeface="Calibri"/>
              </a:rPr>
              <a:t>threads </a:t>
            </a:r>
            <a:r>
              <a:rPr sz="2400" dirty="0">
                <a:latin typeface="Calibri"/>
                <a:cs typeface="Calibri"/>
              </a:rPr>
              <a:t>within a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process.</a:t>
            </a:r>
            <a:endParaRPr sz="2400" dirty="0">
              <a:latin typeface="Calibri"/>
              <a:cs typeface="Calibri"/>
            </a:endParaRPr>
          </a:p>
          <a:p>
            <a:pPr marL="469900" indent="-457200" algn="just">
              <a:spcBef>
                <a:spcPts val="805"/>
              </a:spcBef>
              <a:buAutoNum type="arabicPeriod"/>
              <a:tabLst>
                <a:tab pos="469900" algn="l"/>
                <a:tab pos="470534" algn="l"/>
              </a:tabLst>
            </a:pPr>
            <a:r>
              <a:rPr sz="2400" spc="-15" dirty="0">
                <a:latin typeface="Calibri"/>
                <a:cs typeface="Calibri"/>
              </a:rPr>
              <a:t>Different </a:t>
            </a:r>
            <a:r>
              <a:rPr sz="2400" spc="-10" dirty="0">
                <a:latin typeface="Calibri"/>
                <a:cs typeface="Calibri"/>
              </a:rPr>
              <a:t>processes </a:t>
            </a:r>
            <a:r>
              <a:rPr sz="2400" dirty="0">
                <a:latin typeface="Calibri"/>
                <a:cs typeface="Calibri"/>
              </a:rPr>
              <a:t>running </a:t>
            </a:r>
            <a:r>
              <a:rPr sz="2400" spc="-5" dirty="0">
                <a:latin typeface="Calibri"/>
                <a:cs typeface="Calibri"/>
              </a:rPr>
              <a:t>on same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node.</a:t>
            </a:r>
          </a:p>
          <a:p>
            <a:pPr marL="469900" indent="-457200" algn="just">
              <a:spcBef>
                <a:spcPts val="790"/>
              </a:spcBef>
              <a:buAutoNum type="arabicPeriod"/>
              <a:tabLst>
                <a:tab pos="469900" algn="l"/>
                <a:tab pos="470534" algn="l"/>
              </a:tabLst>
            </a:pPr>
            <a:r>
              <a:rPr sz="2400" spc="-15" dirty="0">
                <a:latin typeface="Calibri"/>
                <a:cs typeface="Calibri"/>
              </a:rPr>
              <a:t>Different </a:t>
            </a:r>
            <a:r>
              <a:rPr sz="2400" spc="-10" dirty="0">
                <a:latin typeface="Calibri"/>
                <a:cs typeface="Calibri"/>
              </a:rPr>
              <a:t>processes </a:t>
            </a:r>
            <a:r>
              <a:rPr sz="2400" dirty="0">
                <a:latin typeface="Calibri"/>
                <a:cs typeface="Calibri"/>
              </a:rPr>
              <a:t>running on </a:t>
            </a:r>
            <a:r>
              <a:rPr sz="2400" spc="-15" dirty="0">
                <a:latin typeface="Calibri"/>
                <a:cs typeface="Calibri"/>
              </a:rPr>
              <a:t>different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node.</a:t>
            </a:r>
            <a:endParaRPr sz="24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10305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Message Passing Interface - MPI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None/>
            </a:pPr>
            <a:endParaRPr lang="en-US" dirty="0" smtClean="0"/>
          </a:p>
          <a:p>
            <a:pPr marL="0" indent="0" algn="ctr">
              <a:buNone/>
            </a:pPr>
            <a:r>
              <a:rPr lang="en-US" sz="4000" b="1" dirty="0" smtClean="0">
                <a:solidFill>
                  <a:schemeClr val="accent5"/>
                </a:solidFill>
              </a:rPr>
              <a:t>What </a:t>
            </a:r>
            <a:r>
              <a:rPr lang="en-US" sz="4000" b="1" dirty="0">
                <a:solidFill>
                  <a:schemeClr val="accent5"/>
                </a:solidFill>
              </a:rPr>
              <a:t>is the message passing model? </a:t>
            </a:r>
            <a:endParaRPr lang="en-US" sz="4000" b="1" dirty="0" smtClean="0">
              <a:solidFill>
                <a:schemeClr val="accent5"/>
              </a:solidFill>
            </a:endParaRPr>
          </a:p>
          <a:p>
            <a:pPr marL="0" indent="0" algn="ctr">
              <a:buNone/>
            </a:pPr>
            <a:r>
              <a:rPr lang="en-US" sz="4000" dirty="0" smtClean="0"/>
              <a:t>An </a:t>
            </a:r>
            <a:r>
              <a:rPr lang="en-US" sz="4000" dirty="0"/>
              <a:t>application passes messages among processes </a:t>
            </a:r>
            <a:endParaRPr lang="en-US" sz="4000" dirty="0" smtClean="0"/>
          </a:p>
          <a:p>
            <a:pPr marL="0" indent="0" algn="ctr">
              <a:buNone/>
            </a:pPr>
            <a:r>
              <a:rPr lang="en-US" sz="4000" dirty="0" smtClean="0"/>
              <a:t>in </a:t>
            </a:r>
            <a:r>
              <a:rPr lang="en-US" sz="4000" dirty="0"/>
              <a:t>order to perform a task</a:t>
            </a:r>
            <a:r>
              <a:rPr lang="en-US" sz="4000" dirty="0" smtClean="0"/>
              <a:t>.</a:t>
            </a:r>
          </a:p>
          <a:p>
            <a:pPr marL="0" indent="0" algn="ctr">
              <a:buNone/>
            </a:pPr>
            <a:endParaRPr lang="en-US" sz="4000" dirty="0" smtClean="0"/>
          </a:p>
          <a:p>
            <a:pPr marL="0" indent="0" algn="ctr">
              <a:buNone/>
            </a:pPr>
            <a:r>
              <a:rPr lang="en-US" sz="4000" dirty="0" smtClean="0"/>
              <a:t>This </a:t>
            </a:r>
            <a:r>
              <a:rPr lang="en-US" sz="4000" dirty="0"/>
              <a:t>model works out quite well in practice for parallel applications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1003753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>
                <a:solidFill>
                  <a:srgbClr val="FF0000"/>
                </a:solidFill>
              </a:rPr>
              <a:t>Message Passing Interface - MPI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24465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dirty="0" smtClean="0"/>
              <a:t>The </a:t>
            </a:r>
            <a:r>
              <a:rPr lang="en-US" dirty="0"/>
              <a:t>goal of the Message Passing Interface is to establish a portable, efficient, and flexible standard for message passing </a:t>
            </a:r>
            <a:endParaRPr lang="en-US" dirty="0" smtClean="0"/>
          </a:p>
          <a:p>
            <a:pPr algn="just"/>
            <a:endParaRPr lang="en-US" dirty="0"/>
          </a:p>
          <a:p>
            <a:pPr algn="just"/>
            <a:r>
              <a:rPr lang="en-US" dirty="0" smtClean="0"/>
              <a:t>It is </a:t>
            </a:r>
            <a:r>
              <a:rPr lang="en-US" dirty="0"/>
              <a:t>a message passing library standard based on the consensus of the MPI </a:t>
            </a:r>
            <a:r>
              <a:rPr lang="en-US" dirty="0" smtClean="0"/>
              <a:t>Forum.</a:t>
            </a:r>
          </a:p>
          <a:p>
            <a:pPr algn="just"/>
            <a:endParaRPr lang="en-US" dirty="0"/>
          </a:p>
          <a:p>
            <a:pPr algn="just"/>
            <a:r>
              <a:rPr lang="en-US" dirty="0" smtClean="0"/>
              <a:t>It becomes </a:t>
            </a:r>
            <a:r>
              <a:rPr lang="en-US" dirty="0"/>
              <a:t>the "industry standard" for writing message passing programs on HPC </a:t>
            </a:r>
            <a:r>
              <a:rPr lang="en-US" dirty="0" smtClean="0"/>
              <a:t>platforms.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It addresses </a:t>
            </a:r>
            <a:r>
              <a:rPr lang="en-US" dirty="0"/>
              <a:t>the </a:t>
            </a:r>
            <a:r>
              <a:rPr lang="en-US" b="1" i="1" dirty="0"/>
              <a:t>message-passing parallel programming model:</a:t>
            </a:r>
            <a:r>
              <a:rPr lang="en-US" dirty="0"/>
              <a:t> data is moved from the address space of one process to that of another process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722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933061"/>
          </a:xfrm>
        </p:spPr>
        <p:txBody>
          <a:bodyPr/>
          <a:lstStyle/>
          <a:p>
            <a:r>
              <a:rPr lang="en-IN" b="1" dirty="0" smtClean="0"/>
              <a:t>History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4563" y="933062"/>
            <a:ext cx="11569959" cy="5766318"/>
          </a:xfrm>
        </p:spPr>
        <p:txBody>
          <a:bodyPr>
            <a:normAutofit fontScale="92500" lnSpcReduction="10000"/>
          </a:bodyPr>
          <a:lstStyle/>
          <a:p>
            <a:r>
              <a:rPr lang="en-IN" b="1" dirty="0" smtClean="0"/>
              <a:t>1982-1992</a:t>
            </a:r>
            <a:r>
              <a:rPr lang="en-IN" dirty="0" smtClean="0"/>
              <a:t> – Parallel computing developers uses no. of incompatible tools for writing programs</a:t>
            </a:r>
          </a:p>
          <a:p>
            <a:r>
              <a:rPr lang="en-IN" b="1" dirty="0" smtClean="0"/>
              <a:t>April 1992</a:t>
            </a:r>
            <a:r>
              <a:rPr lang="en-IN" dirty="0" smtClean="0"/>
              <a:t> – Workshop on standards for message passing - </a:t>
            </a:r>
            <a:r>
              <a:rPr lang="en-US" dirty="0"/>
              <a:t>features essential to a standard message passing interface were </a:t>
            </a:r>
            <a:r>
              <a:rPr lang="en-US" dirty="0" smtClean="0"/>
              <a:t>discussed</a:t>
            </a:r>
          </a:p>
          <a:p>
            <a:r>
              <a:rPr lang="en-US" b="1" dirty="0"/>
              <a:t>Nov 1992:</a:t>
            </a:r>
            <a:r>
              <a:rPr lang="en-US" dirty="0"/>
              <a:t> Working group meets in </a:t>
            </a:r>
            <a:r>
              <a:rPr lang="en-US" dirty="0" smtClean="0"/>
              <a:t>Minneapolis with </a:t>
            </a:r>
            <a:r>
              <a:rPr lang="en-US" dirty="0"/>
              <a:t>MPI draft </a:t>
            </a:r>
            <a:r>
              <a:rPr lang="en-US" dirty="0" smtClean="0"/>
              <a:t>proposal</a:t>
            </a:r>
          </a:p>
          <a:p>
            <a:r>
              <a:rPr lang="en-US" b="1" dirty="0"/>
              <a:t>Nov 1993:</a:t>
            </a:r>
            <a:r>
              <a:rPr lang="en-US" dirty="0"/>
              <a:t> Supercomputing 93 conference - draft MPI standard </a:t>
            </a:r>
            <a:r>
              <a:rPr lang="en-US" dirty="0" smtClean="0"/>
              <a:t>presented</a:t>
            </a:r>
          </a:p>
          <a:p>
            <a:r>
              <a:rPr lang="en-US" b="1" dirty="0"/>
              <a:t>May 1994:</a:t>
            </a:r>
            <a:r>
              <a:rPr lang="en-US" dirty="0"/>
              <a:t> Final version of MPI-1.0 released</a:t>
            </a:r>
          </a:p>
          <a:p>
            <a:pPr lvl="1"/>
            <a:r>
              <a:rPr lang="en-US" dirty="0"/>
              <a:t>MPI-1.1 (Jun 1995</a:t>
            </a:r>
            <a:r>
              <a:rPr lang="en-US" dirty="0" smtClean="0"/>
              <a:t>), MPI-1.2 </a:t>
            </a:r>
            <a:r>
              <a:rPr lang="en-US" dirty="0"/>
              <a:t>(Jul 1997</a:t>
            </a:r>
            <a:r>
              <a:rPr lang="en-US" dirty="0" smtClean="0"/>
              <a:t>), MPI-1.3 </a:t>
            </a:r>
            <a:r>
              <a:rPr lang="en-US" dirty="0"/>
              <a:t>(May 2008).</a:t>
            </a:r>
          </a:p>
          <a:p>
            <a:r>
              <a:rPr lang="en-US" b="1" dirty="0"/>
              <a:t>1998:</a:t>
            </a:r>
            <a:r>
              <a:rPr lang="en-US" dirty="0"/>
              <a:t> MPI-2 picked up where the first MPI specification left off, and addressed topics which went far beyond the MPI-1 specification.</a:t>
            </a:r>
          </a:p>
          <a:p>
            <a:pPr lvl="1"/>
            <a:r>
              <a:rPr lang="en-US" dirty="0"/>
              <a:t>MPI-2.1 (Sep 2008</a:t>
            </a:r>
            <a:r>
              <a:rPr lang="en-US" dirty="0" smtClean="0"/>
              <a:t>), MPI-2.2 </a:t>
            </a:r>
            <a:r>
              <a:rPr lang="en-US" dirty="0"/>
              <a:t>(Sep 2009)</a:t>
            </a:r>
          </a:p>
          <a:p>
            <a:r>
              <a:rPr lang="en-US" b="1" dirty="0"/>
              <a:t>Sep 2012:</a:t>
            </a:r>
            <a:r>
              <a:rPr lang="en-US" dirty="0"/>
              <a:t> The MPI-3.0 standard was approved.</a:t>
            </a:r>
          </a:p>
          <a:p>
            <a:pPr lvl="1"/>
            <a:r>
              <a:rPr lang="en-US" dirty="0"/>
              <a:t>MPI-3.1 (Jun 2015)</a:t>
            </a:r>
          </a:p>
          <a:p>
            <a:r>
              <a:rPr lang="en-US" b="1" dirty="0"/>
              <a:t>Current:</a:t>
            </a:r>
            <a:r>
              <a:rPr lang="en-US" dirty="0"/>
              <a:t> The MPI-4.0 standard </a:t>
            </a:r>
            <a:r>
              <a:rPr lang="en-US" dirty="0" smtClean="0"/>
              <a:t>is available</a:t>
            </a:r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23352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dirty="0" smtClean="0"/>
              <a:t>Why MPI is simple?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Many parallel programs can be written using just these six functions, only two of which are non-trivial;</a:t>
            </a:r>
          </a:p>
          <a:p>
            <a:pPr lvl="2" eaLnBrk="1" hangingPunct="1"/>
            <a:r>
              <a:rPr lang="en-US" altLang="en-US" dirty="0" smtClean="0"/>
              <a:t>MPI_INIT</a:t>
            </a:r>
          </a:p>
          <a:p>
            <a:pPr lvl="2" eaLnBrk="1" hangingPunct="1"/>
            <a:r>
              <a:rPr lang="en-US" altLang="en-US" dirty="0" smtClean="0"/>
              <a:t>MPI_FINALIZE</a:t>
            </a:r>
          </a:p>
          <a:p>
            <a:pPr lvl="2" eaLnBrk="1" hangingPunct="1"/>
            <a:r>
              <a:rPr lang="en-US" altLang="en-US" dirty="0" smtClean="0"/>
              <a:t>MPI_COMM_SIZE</a:t>
            </a:r>
          </a:p>
          <a:p>
            <a:pPr lvl="2" eaLnBrk="1" hangingPunct="1"/>
            <a:r>
              <a:rPr lang="en-US" altLang="en-US" dirty="0" smtClean="0"/>
              <a:t>MPI_COMM_RANK</a:t>
            </a:r>
          </a:p>
          <a:p>
            <a:pPr lvl="2" eaLnBrk="1" hangingPunct="1"/>
            <a:r>
              <a:rPr lang="en-US" altLang="en-US" dirty="0" smtClean="0"/>
              <a:t>MPI_SEND</a:t>
            </a:r>
          </a:p>
          <a:p>
            <a:pPr lvl="2" eaLnBrk="1" hangingPunct="1"/>
            <a:r>
              <a:rPr lang="en-US" altLang="en-US" dirty="0" smtClean="0"/>
              <a:t>MPI_RECV</a:t>
            </a:r>
          </a:p>
        </p:txBody>
      </p:sp>
    </p:spTree>
    <p:extLst>
      <p:ext uri="{BB962C8B-B14F-4D97-AF65-F5344CB8AC3E}">
        <p14:creationId xmlns:p14="http://schemas.microsoft.com/office/powerpoint/2010/main" val="2988526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Programming Model</a:t>
            </a:r>
            <a:r>
              <a:rPr lang="en-IN" b="1" dirty="0" smtClean="0"/>
              <a:t>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Originally, MPI was designed for distributed memory </a:t>
            </a:r>
            <a:r>
              <a:rPr lang="en-US" dirty="0" smtClean="0"/>
              <a:t>architectures (1980 – 1990’s)</a:t>
            </a:r>
          </a:p>
          <a:p>
            <a:endParaRPr lang="en-US" dirty="0"/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4235" y="3012135"/>
            <a:ext cx="6972087" cy="2791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915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15820"/>
            <a:ext cx="10515600" cy="5952931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S</a:t>
            </a:r>
            <a:r>
              <a:rPr lang="en-US" dirty="0" smtClean="0"/>
              <a:t>hared </a:t>
            </a:r>
            <a:r>
              <a:rPr lang="en-US" dirty="0"/>
              <a:t>memory SMPs were combined over networks creating hybrid distributed memory / shared memory </a:t>
            </a:r>
            <a:r>
              <a:rPr lang="en-US" dirty="0" smtClean="0"/>
              <a:t>systems</a:t>
            </a:r>
            <a:endParaRPr lang="en-IN" dirty="0"/>
          </a:p>
          <a:p>
            <a:pPr algn="just"/>
            <a:r>
              <a:rPr lang="en-US" dirty="0"/>
              <a:t>MPI implementors adapted their libraries to handle both types of underlying memory architectures seamlessly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/>
              <a:t>Today, MPI runs on virtually any hardware platform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Distributed Memory, Shared Memory, Hybrid</a:t>
            </a:r>
            <a:endParaRPr lang="en-US" dirty="0"/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5418" y="2530926"/>
            <a:ext cx="6899458" cy="2675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723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MPI’s design for the message passing model</a:t>
            </a:r>
            <a:endParaRPr lang="en-IN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94445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/>
              <a:t>Communications such as this which involve one sender and receiver are known as </a:t>
            </a:r>
            <a:r>
              <a:rPr lang="en-US" b="1" i="1" dirty="0"/>
              <a:t>point-to-point </a:t>
            </a:r>
            <a:r>
              <a:rPr lang="en-US" b="1" dirty="0"/>
              <a:t>communications</a:t>
            </a:r>
            <a:r>
              <a:rPr lang="en-US" dirty="0" smtClean="0"/>
              <a:t>.</a:t>
            </a:r>
            <a:endParaRPr lang="en-IN" dirty="0"/>
          </a:p>
          <a:p>
            <a:pPr algn="just"/>
            <a:endParaRPr lang="en-IN" dirty="0" smtClean="0"/>
          </a:p>
          <a:p>
            <a:pPr algn="just"/>
            <a:r>
              <a:rPr lang="en-IN" b="1" i="1" dirty="0"/>
              <a:t>Collective</a:t>
            </a:r>
            <a:r>
              <a:rPr lang="en-IN" b="1" dirty="0"/>
              <a:t> </a:t>
            </a:r>
            <a:r>
              <a:rPr lang="en-IN" b="1" dirty="0" smtClean="0"/>
              <a:t>communications - </a:t>
            </a:r>
            <a:r>
              <a:rPr lang="en-US" dirty="0"/>
              <a:t>There are many cases where processes may need to communicate with </a:t>
            </a:r>
            <a:r>
              <a:rPr lang="en-US" dirty="0" smtClean="0"/>
              <a:t>everyone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For example, when a master process needs to broadcast information to all of its worker </a:t>
            </a:r>
            <a:r>
              <a:rPr lang="en-US" dirty="0" smtClean="0"/>
              <a:t>processes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Mixtures of point-to-point and collective communications can be used to create </a:t>
            </a:r>
            <a:r>
              <a:rPr lang="en-US" b="1" dirty="0"/>
              <a:t>highly complex parallel programs.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70234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0756" y="186222"/>
            <a:ext cx="10515600" cy="748058"/>
          </a:xfrm>
        </p:spPr>
        <p:txBody>
          <a:bodyPr/>
          <a:lstStyle/>
          <a:p>
            <a:r>
              <a:rPr lang="en-US" b="1" dirty="0"/>
              <a:t>MPI’s design for the message passing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0756" y="1229276"/>
            <a:ext cx="11585714" cy="54696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/>
              <a:t>Communicator - </a:t>
            </a:r>
            <a:r>
              <a:rPr lang="en-US" dirty="0" smtClean="0"/>
              <a:t>A </a:t>
            </a:r>
            <a:r>
              <a:rPr lang="en-US" dirty="0"/>
              <a:t>communicator defines a group of processes that have the ability to communicate with one another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 </a:t>
            </a:r>
          </a:p>
          <a:p>
            <a:r>
              <a:rPr lang="en-US" dirty="0" smtClean="0"/>
              <a:t>In </a:t>
            </a:r>
            <a:r>
              <a:rPr lang="en-US" dirty="0"/>
              <a:t>this group of processes, each is assigned a unique </a:t>
            </a:r>
            <a:r>
              <a:rPr lang="en-US" b="1" i="1" dirty="0"/>
              <a:t>rank</a:t>
            </a:r>
            <a:r>
              <a:rPr lang="en-US" dirty="0"/>
              <a:t>, and they explicitly communicate with one another by their ranks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/>
              <a:t>A process may send a message to another process by providing the rank of the process and a unique </a:t>
            </a:r>
            <a:r>
              <a:rPr lang="en-US" b="1" i="1" dirty="0"/>
              <a:t>tag</a:t>
            </a:r>
            <a:r>
              <a:rPr lang="en-US" dirty="0"/>
              <a:t> to identify the message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/>
              <a:t>The receiver can then post a receive for a message with a given tag and then handle the data accordingly. </a:t>
            </a:r>
            <a:endParaRPr lang="en-US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4865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 smtClean="0"/>
              <a:t>MPI Program Structure</a:t>
            </a:r>
            <a:endParaRPr lang="en-IN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4892" t="11834" r="60092" b="6181"/>
          <a:stretch/>
        </p:blipFill>
        <p:spPr>
          <a:xfrm>
            <a:off x="5732060" y="365124"/>
            <a:ext cx="5856560" cy="6444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10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EC6D84-3DE4-48A6-81EF-C8F4BEAEAE71}" type="slidenum">
              <a:rPr lang="en-US" altLang="en-US"/>
              <a:pPr/>
              <a:t>13</a:t>
            </a:fld>
            <a:endParaRPr lang="en-US" altLang="en-US"/>
          </a:p>
        </p:txBody>
      </p:sp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 Minimal MPI Program (C)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Tx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#include "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mpi.h</a:t>
            </a:r>
            <a:r>
              <a:rPr lang="en-US" altLang="en-US" sz="2000" b="1" dirty="0">
                <a:latin typeface="Courier New" panose="02070309020205020404" pitchFamily="49" charset="0"/>
              </a:rPr>
              <a:t>"</a:t>
            </a:r>
          </a:p>
          <a:p>
            <a:pPr>
              <a:buFontTx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#include &lt;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stdio.h</a:t>
            </a:r>
            <a:r>
              <a:rPr lang="en-US" altLang="en-US" sz="2000" b="1" dirty="0">
                <a:latin typeface="Courier New" panose="02070309020205020404" pitchFamily="49" charset="0"/>
              </a:rPr>
              <a:t>&gt;</a:t>
            </a:r>
          </a:p>
          <a:p>
            <a:pPr>
              <a:buFontTx/>
              <a:buNone/>
            </a:pPr>
            <a:endParaRPr lang="en-US" altLang="en-US" sz="2000" b="1" dirty="0">
              <a:latin typeface="Courier New" panose="02070309020205020404" pitchFamily="49" charset="0"/>
            </a:endParaRPr>
          </a:p>
          <a:p>
            <a:pPr>
              <a:buFontTx/>
              <a:buNone/>
            </a:pPr>
            <a:r>
              <a:rPr lang="en-US" altLang="en-US" sz="2000" b="1" dirty="0" err="1">
                <a:latin typeface="Courier New" panose="02070309020205020404" pitchFamily="49" charset="0"/>
              </a:rPr>
              <a:t>int</a:t>
            </a:r>
            <a:r>
              <a:rPr lang="en-US" altLang="en-US" sz="2000" b="1" dirty="0">
                <a:latin typeface="Courier New" panose="02070309020205020404" pitchFamily="49" charset="0"/>
              </a:rPr>
              <a:t> main( 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int</a:t>
            </a:r>
            <a:r>
              <a:rPr lang="en-US" altLang="en-US" sz="2000" b="1" dirty="0">
                <a:latin typeface="Courier New" panose="02070309020205020404" pitchFamily="49" charset="0"/>
              </a:rPr>
              <a:t> 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argc</a:t>
            </a:r>
            <a:r>
              <a:rPr lang="en-US" altLang="en-US" sz="2000" b="1" dirty="0">
                <a:latin typeface="Courier New" panose="02070309020205020404" pitchFamily="49" charset="0"/>
              </a:rPr>
              <a:t>, char *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argv</a:t>
            </a:r>
            <a:r>
              <a:rPr lang="en-US" altLang="en-US" sz="2000" b="1" dirty="0">
                <a:latin typeface="Courier New" panose="02070309020205020404" pitchFamily="49" charset="0"/>
              </a:rPr>
              <a:t>[] )</a:t>
            </a:r>
          </a:p>
          <a:p>
            <a:pPr>
              <a:buFontTx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{</a:t>
            </a:r>
          </a:p>
          <a:p>
            <a:pPr>
              <a:buFontTx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    </a:t>
            </a:r>
            <a:r>
              <a:rPr lang="en-US" altLang="en-US" sz="2000" b="1" i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MPI_Init</a:t>
            </a:r>
            <a:r>
              <a:rPr lang="en-US" altLang="en-US" sz="2000" b="1" dirty="0">
                <a:latin typeface="Courier New" panose="02070309020205020404" pitchFamily="49" charset="0"/>
              </a:rPr>
              <a:t>( &amp;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argc</a:t>
            </a:r>
            <a:r>
              <a:rPr lang="en-US" altLang="en-US" sz="2000" b="1" dirty="0">
                <a:latin typeface="Courier New" panose="02070309020205020404" pitchFamily="49" charset="0"/>
              </a:rPr>
              <a:t>, &amp;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argv</a:t>
            </a:r>
            <a:r>
              <a:rPr lang="en-US" altLang="en-US" sz="2000" b="1" dirty="0">
                <a:latin typeface="Courier New" panose="02070309020205020404" pitchFamily="49" charset="0"/>
              </a:rPr>
              <a:t> </a:t>
            </a:r>
            <a:r>
              <a:rPr lang="en-US" altLang="en-US" sz="2000" b="1" dirty="0" smtClean="0">
                <a:latin typeface="Courier New" panose="02070309020205020404" pitchFamily="49" charset="0"/>
              </a:rPr>
              <a:t>);</a:t>
            </a:r>
          </a:p>
          <a:p>
            <a:pPr>
              <a:buFontTx/>
              <a:buNone/>
            </a:pPr>
            <a:endParaRPr lang="en-US" altLang="en-US" sz="2000" b="1" dirty="0">
              <a:latin typeface="Courier New" panose="02070309020205020404" pitchFamily="49" charset="0"/>
            </a:endParaRPr>
          </a:p>
          <a:p>
            <a:pPr>
              <a:buFontTx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    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printf</a:t>
            </a:r>
            <a:r>
              <a:rPr lang="en-US" altLang="en-US" sz="2000" b="1" dirty="0">
                <a:latin typeface="Courier New" panose="02070309020205020404" pitchFamily="49" charset="0"/>
              </a:rPr>
              <a:t>( "Hello, world!\n" </a:t>
            </a:r>
            <a:r>
              <a:rPr lang="en-US" altLang="en-US" sz="2000" b="1" dirty="0" smtClean="0">
                <a:latin typeface="Courier New" panose="02070309020205020404" pitchFamily="49" charset="0"/>
              </a:rPr>
              <a:t>);</a:t>
            </a:r>
          </a:p>
          <a:p>
            <a:pPr>
              <a:buFontTx/>
              <a:buNone/>
            </a:pPr>
            <a:endParaRPr lang="en-US" altLang="en-US" sz="2000" b="1" dirty="0">
              <a:latin typeface="Courier New" panose="02070309020205020404" pitchFamily="49" charset="0"/>
            </a:endParaRPr>
          </a:p>
          <a:p>
            <a:pPr>
              <a:buFontTx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    </a:t>
            </a:r>
            <a:r>
              <a:rPr lang="en-US" altLang="en-US" sz="2000" b="1" i="1" dirty="0" err="1">
                <a:solidFill>
                  <a:srgbClr val="0070C0"/>
                </a:solidFill>
                <a:latin typeface="Courier New" panose="02070309020205020404" pitchFamily="49" charset="0"/>
              </a:rPr>
              <a:t>MPI_Finalize</a:t>
            </a:r>
            <a:r>
              <a:rPr lang="en-US" altLang="en-US" sz="2000" b="1" dirty="0">
                <a:latin typeface="Courier New" panose="02070309020205020404" pitchFamily="49" charset="0"/>
              </a:rPr>
              <a:t>();</a:t>
            </a:r>
          </a:p>
          <a:p>
            <a:pPr>
              <a:buFontTx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    return 0;</a:t>
            </a:r>
          </a:p>
          <a:p>
            <a:pPr>
              <a:buFontTx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}</a:t>
            </a:r>
            <a:endParaRPr lang="en-US" altLang="en-US" sz="2000" dirty="0">
              <a:latin typeface="Courier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4284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62C689-8D61-46AD-BBC8-D3C0BF59DAAE}" type="slidenum">
              <a:rPr lang="en-US" altLang="en-US"/>
              <a:pPr/>
              <a:t>14</a:t>
            </a:fld>
            <a:endParaRPr lang="en-US" altLang="en-US"/>
          </a:p>
        </p:txBody>
      </p:sp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Finding Out About the Environment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7797" y="1676400"/>
            <a:ext cx="11095630" cy="4724400"/>
          </a:xfrm>
        </p:spPr>
        <p:txBody>
          <a:bodyPr/>
          <a:lstStyle/>
          <a:p>
            <a:r>
              <a:rPr lang="en-US" altLang="en-US" dirty="0"/>
              <a:t>Two important questions that arise early in a parallel program are:</a:t>
            </a:r>
          </a:p>
          <a:p>
            <a:pPr lvl="1"/>
            <a:r>
              <a:rPr lang="en-US" altLang="en-US" sz="2800" dirty="0"/>
              <a:t>How many processes are participating in this computation?</a:t>
            </a:r>
          </a:p>
          <a:p>
            <a:pPr lvl="1"/>
            <a:r>
              <a:rPr lang="en-US" altLang="en-US" sz="2800" dirty="0"/>
              <a:t>Which one am I?</a:t>
            </a:r>
          </a:p>
          <a:p>
            <a:r>
              <a:rPr lang="en-US" altLang="en-US" dirty="0"/>
              <a:t>MPI provides functions to answer these questions:</a:t>
            </a:r>
          </a:p>
          <a:p>
            <a:pPr lvl="1"/>
            <a:r>
              <a:rPr lang="en-US" altLang="en-US" b="1" dirty="0" err="1">
                <a:latin typeface="Courier New" panose="02070309020205020404" pitchFamily="49" charset="0"/>
              </a:rPr>
              <a:t>MPI_Comm_size</a:t>
            </a:r>
            <a:r>
              <a:rPr lang="en-US" altLang="en-US" dirty="0"/>
              <a:t> reports the number of processes</a:t>
            </a:r>
            <a:r>
              <a:rPr lang="en-US" altLang="en-US" dirty="0" smtClean="0"/>
              <a:t>.</a:t>
            </a:r>
          </a:p>
          <a:p>
            <a:pPr lvl="1"/>
            <a:endParaRPr lang="en-US" altLang="en-US" dirty="0"/>
          </a:p>
          <a:p>
            <a:pPr lvl="1"/>
            <a:r>
              <a:rPr lang="en-US" altLang="en-US" b="1" dirty="0" err="1">
                <a:latin typeface="Courier New" panose="02070309020205020404" pitchFamily="49" charset="0"/>
              </a:rPr>
              <a:t>MPI_Comm_rank</a:t>
            </a:r>
            <a:r>
              <a:rPr lang="en-US" altLang="en-US" dirty="0"/>
              <a:t> reports the </a:t>
            </a:r>
            <a:r>
              <a:rPr lang="en-US" altLang="en-US" i="1" dirty="0"/>
              <a:t>rank</a:t>
            </a:r>
            <a:r>
              <a:rPr lang="en-US" altLang="en-US" dirty="0"/>
              <a:t>, a number between 0 and size-1, identifying the calling process</a:t>
            </a:r>
          </a:p>
        </p:txBody>
      </p:sp>
    </p:spTree>
    <p:extLst>
      <p:ext uri="{BB962C8B-B14F-4D97-AF65-F5344CB8AC3E}">
        <p14:creationId xmlns:p14="http://schemas.microsoft.com/office/powerpoint/2010/main" val="170992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F90E76-ADF4-4034-8AF4-6A683FE70A89}" type="slidenum">
              <a:rPr lang="en-US" altLang="en-US"/>
              <a:pPr/>
              <a:t>15</a:t>
            </a:fld>
            <a:endParaRPr lang="en-US" altLang="en-US"/>
          </a:p>
        </p:txBody>
      </p:sp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Better Hello (C)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80000"/>
              </a:lnSpc>
              <a:buFontTx/>
              <a:buNone/>
            </a:pPr>
            <a:r>
              <a:rPr lang="en-US" altLang="en-US" sz="2000" b="1">
                <a:latin typeface="Courier New" panose="02070309020205020404" pitchFamily="49" charset="0"/>
              </a:rPr>
              <a:t>#include "mpi.h"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000" b="1">
                <a:latin typeface="Courier New" panose="02070309020205020404" pitchFamily="49" charset="0"/>
              </a:rPr>
              <a:t>#include &lt;stdio.h&gt;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altLang="en-US" sz="2000" b="1"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000" b="1">
                <a:latin typeface="Courier New" panose="02070309020205020404" pitchFamily="49" charset="0"/>
              </a:rPr>
              <a:t>int main( int argc, char *argv[] 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000" b="1">
                <a:latin typeface="Courier New" panose="02070309020205020404" pitchFamily="49" charset="0"/>
              </a:rPr>
              <a:t>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000" b="1">
                <a:latin typeface="Courier New" panose="02070309020205020404" pitchFamily="49" charset="0"/>
              </a:rPr>
              <a:t>    int rank, size;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000" b="1">
                <a:latin typeface="Courier New" panose="02070309020205020404" pitchFamily="49" charset="0"/>
              </a:rPr>
              <a:t>    MPI_Init( &amp;argc, &amp;argv 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000" b="1">
                <a:latin typeface="Courier New" panose="02070309020205020404" pitchFamily="49" charset="0"/>
              </a:rPr>
              <a:t>    MPI_Comm_rank( MPI_COMM_WORLD, &amp;rank 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000" b="1">
                <a:latin typeface="Courier New" panose="02070309020205020404" pitchFamily="49" charset="0"/>
              </a:rPr>
              <a:t>    MPI_Comm_size( MPI_COMM_WORLD, &amp;size 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000" b="1">
                <a:latin typeface="Courier New" panose="02070309020205020404" pitchFamily="49" charset="0"/>
              </a:rPr>
              <a:t>    printf( "I am %d of %d\n", rank, size 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000" b="1">
                <a:latin typeface="Courier New" panose="02070309020205020404" pitchFamily="49" charset="0"/>
              </a:rPr>
              <a:t>    MPI_Finalize();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000" b="1">
                <a:latin typeface="Courier New" panose="02070309020205020404" pitchFamily="49" charset="0"/>
              </a:rPr>
              <a:t>    return 0;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000" b="1">
                <a:latin typeface="Courier New" panose="02070309020205020404" pitchFamily="49" charset="0"/>
              </a:rPr>
              <a:t>}</a:t>
            </a:r>
            <a:endParaRPr lang="en-US" altLang="en-US" sz="2000" b="1">
              <a:latin typeface="Courier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7990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396" y="197175"/>
            <a:ext cx="10515600" cy="567936"/>
          </a:xfrm>
        </p:spPr>
        <p:txBody>
          <a:bodyPr>
            <a:normAutofit fontScale="90000"/>
          </a:bodyPr>
          <a:lstStyle/>
          <a:p>
            <a:r>
              <a:rPr lang="en-IN" b="1" dirty="0" smtClean="0"/>
              <a:t>Example Program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5686" y="1116497"/>
            <a:ext cx="11478208" cy="539626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366271" y="1116497"/>
            <a:ext cx="8054837" cy="5517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336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Example Program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900632" y="1555845"/>
            <a:ext cx="11010104" cy="5131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112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b="1" dirty="0" smtClean="0"/>
              <a:t>Basic MPI types</a:t>
            </a:r>
          </a:p>
        </p:txBody>
      </p:sp>
      <p:sp>
        <p:nvSpPr>
          <p:cNvPr id="14339" name="Rectangle 4"/>
          <p:cNvSpPr>
            <a:spLocks noChangeArrowheads="1"/>
          </p:cNvSpPr>
          <p:nvPr/>
        </p:nvSpPr>
        <p:spPr bwMode="auto">
          <a:xfrm>
            <a:off x="2514600" y="1676401"/>
            <a:ext cx="7543800" cy="435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 u="sng"/>
              <a:t>MPI datatype</a:t>
            </a:r>
            <a:r>
              <a:rPr lang="en-US" altLang="en-US" sz="2000" b="1"/>
              <a:t>	</a:t>
            </a:r>
            <a:r>
              <a:rPr lang="en-US" altLang="en-US" sz="2000"/>
              <a:t>			</a:t>
            </a:r>
            <a:r>
              <a:rPr lang="en-US" altLang="en-US" sz="2000" b="1" u="sng"/>
              <a:t>C datatype</a:t>
            </a:r>
          </a:p>
          <a:p>
            <a:pPr eaLnBrk="1" hangingPunct="1"/>
            <a:endParaRPr lang="en-US" altLang="en-US" sz="2000" b="1" u="sng"/>
          </a:p>
          <a:p>
            <a:pPr eaLnBrk="1" hangingPunct="1"/>
            <a:r>
              <a:rPr lang="en-US" altLang="en-US" sz="2000"/>
              <a:t>MPI_CHAR				signed char</a:t>
            </a:r>
          </a:p>
          <a:p>
            <a:pPr eaLnBrk="1" hangingPunct="1"/>
            <a:r>
              <a:rPr lang="en-US" altLang="en-US" sz="2000"/>
              <a:t>MPI_SIGNED_CHAR			signed char</a:t>
            </a:r>
          </a:p>
          <a:p>
            <a:pPr eaLnBrk="1" hangingPunct="1"/>
            <a:r>
              <a:rPr lang="en-US" altLang="en-US" sz="2000"/>
              <a:t>MPI_UNSIGNED_CHAR		unsigned char</a:t>
            </a:r>
          </a:p>
          <a:p>
            <a:pPr eaLnBrk="1" hangingPunct="1"/>
            <a:r>
              <a:rPr lang="en-US" altLang="en-US" sz="2000"/>
              <a:t>MPI_SHORT				signed short</a:t>
            </a:r>
          </a:p>
          <a:p>
            <a:pPr eaLnBrk="1" hangingPunct="1"/>
            <a:r>
              <a:rPr lang="en-US" altLang="en-US" sz="2000"/>
              <a:t>MPI_UNSIGNED_SHORT		unsigned short</a:t>
            </a:r>
          </a:p>
          <a:p>
            <a:pPr eaLnBrk="1" hangingPunct="1"/>
            <a:r>
              <a:rPr lang="en-US" altLang="en-US" sz="2000"/>
              <a:t>MPI_INT				signed int</a:t>
            </a:r>
          </a:p>
          <a:p>
            <a:pPr eaLnBrk="1" hangingPunct="1"/>
            <a:r>
              <a:rPr lang="en-US" altLang="en-US" sz="2000"/>
              <a:t>MPI_UNSIGNED			unsigned int</a:t>
            </a:r>
          </a:p>
          <a:p>
            <a:pPr eaLnBrk="1" hangingPunct="1"/>
            <a:r>
              <a:rPr lang="en-US" altLang="en-US" sz="2000"/>
              <a:t>MPI_LONG				signed long</a:t>
            </a:r>
          </a:p>
          <a:p>
            <a:pPr eaLnBrk="1" hangingPunct="1"/>
            <a:r>
              <a:rPr lang="en-US" altLang="en-US" sz="2000"/>
              <a:t>MPI_UNSIGNED_LONG		unsigned long</a:t>
            </a:r>
          </a:p>
          <a:p>
            <a:pPr eaLnBrk="1" hangingPunct="1"/>
            <a:r>
              <a:rPr lang="en-US" altLang="en-US" sz="2000"/>
              <a:t>MPI_FLOAT				float</a:t>
            </a:r>
          </a:p>
          <a:p>
            <a:pPr eaLnBrk="1" hangingPunct="1"/>
            <a:r>
              <a:rPr lang="en-US" altLang="en-US" sz="2000"/>
              <a:t>MPI_DOUBLE				double</a:t>
            </a:r>
          </a:p>
          <a:p>
            <a:pPr eaLnBrk="1" hangingPunct="1"/>
            <a:r>
              <a:rPr lang="en-US" altLang="en-US" sz="2000"/>
              <a:t>MPI_LONG_DOUBLE			long double</a:t>
            </a:r>
          </a:p>
        </p:txBody>
      </p:sp>
    </p:spTree>
    <p:extLst>
      <p:ext uri="{BB962C8B-B14F-4D97-AF65-F5344CB8AC3E}">
        <p14:creationId xmlns:p14="http://schemas.microsoft.com/office/powerpoint/2010/main" val="571482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730" y="186222"/>
            <a:ext cx="10515600" cy="628788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MPI Send and </a:t>
            </a:r>
            <a:r>
              <a:rPr lang="en-IN" b="1" dirty="0" smtClean="0"/>
              <a:t>Receive operations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0756" y="1189520"/>
            <a:ext cx="11088757" cy="5350428"/>
          </a:xfrm>
        </p:spPr>
        <p:txBody>
          <a:bodyPr>
            <a:normAutofit/>
          </a:bodyPr>
          <a:lstStyle/>
          <a:p>
            <a:r>
              <a:rPr lang="en-US" dirty="0"/>
              <a:t>Sending and receiving are the two foundational concepts of MPI. </a:t>
            </a:r>
            <a:endParaRPr lang="en-US" dirty="0" smtClean="0"/>
          </a:p>
          <a:p>
            <a:r>
              <a:rPr lang="en-US" dirty="0" smtClean="0"/>
              <a:t>Almost </a:t>
            </a:r>
            <a:r>
              <a:rPr lang="en-US" dirty="0"/>
              <a:t>every single function in MPI can be implemented with basic send and receive calls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7030A0"/>
                </a:solidFill>
              </a:rPr>
              <a:t>MPI’s send and receive calls </a:t>
            </a:r>
            <a:r>
              <a:rPr lang="en-US" b="1" dirty="0" smtClean="0">
                <a:solidFill>
                  <a:srgbClr val="7030A0"/>
                </a:solidFill>
              </a:rPr>
              <a:t>operation:</a:t>
            </a:r>
          </a:p>
          <a:p>
            <a:r>
              <a:rPr lang="en-US" dirty="0"/>
              <a:t>P</a:t>
            </a:r>
            <a:r>
              <a:rPr lang="en-US" dirty="0" smtClean="0"/>
              <a:t>rocess</a:t>
            </a:r>
            <a:r>
              <a:rPr lang="en-US" dirty="0"/>
              <a:t> </a:t>
            </a:r>
            <a:r>
              <a:rPr lang="en-US" i="1" dirty="0" smtClean="0"/>
              <a:t>A </a:t>
            </a:r>
            <a:r>
              <a:rPr lang="en-US" dirty="0" smtClean="0"/>
              <a:t>decides </a:t>
            </a:r>
            <a:r>
              <a:rPr lang="en-US" dirty="0"/>
              <a:t>a message needs to be sent to process </a:t>
            </a:r>
            <a:r>
              <a:rPr lang="en-US" i="1" dirty="0"/>
              <a:t>B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Process </a:t>
            </a:r>
            <a:r>
              <a:rPr lang="en-US" dirty="0"/>
              <a:t>A then packs up all of its necessary data into a </a:t>
            </a:r>
            <a:r>
              <a:rPr lang="en-US" dirty="0" smtClean="0"/>
              <a:t>buffer (envelope)</a:t>
            </a:r>
          </a:p>
          <a:p>
            <a:r>
              <a:rPr lang="en-US" dirty="0"/>
              <a:t>C</a:t>
            </a:r>
            <a:r>
              <a:rPr lang="en-US" dirty="0" smtClean="0"/>
              <a:t>ommunication </a:t>
            </a:r>
            <a:r>
              <a:rPr lang="en-US" dirty="0"/>
              <a:t>device </a:t>
            </a:r>
            <a:r>
              <a:rPr lang="en-US" dirty="0" smtClean="0"/>
              <a:t>is </a:t>
            </a:r>
            <a:r>
              <a:rPr lang="en-US" dirty="0"/>
              <a:t>responsible for routing the </a:t>
            </a:r>
            <a:r>
              <a:rPr lang="en-US" dirty="0" smtClean="0"/>
              <a:t>message</a:t>
            </a:r>
          </a:p>
          <a:p>
            <a:r>
              <a:rPr lang="en-US" dirty="0"/>
              <a:t>The location of the message is defined by the </a:t>
            </a:r>
            <a:r>
              <a:rPr lang="en-US" b="1" dirty="0"/>
              <a:t>process’s </a:t>
            </a:r>
            <a:r>
              <a:rPr lang="en-US" b="1" dirty="0" smtClean="0"/>
              <a:t>rank</a:t>
            </a:r>
          </a:p>
          <a:p>
            <a:r>
              <a:rPr lang="en-US" dirty="0"/>
              <a:t>P</a:t>
            </a:r>
            <a:r>
              <a:rPr lang="en-US" dirty="0" smtClean="0"/>
              <a:t>rocess </a:t>
            </a:r>
            <a:r>
              <a:rPr lang="en-US" dirty="0"/>
              <a:t>B </a:t>
            </a:r>
            <a:r>
              <a:rPr lang="en-US" dirty="0" smtClean="0"/>
              <a:t>has </a:t>
            </a:r>
            <a:r>
              <a:rPr lang="en-US" dirty="0"/>
              <a:t>to </a:t>
            </a:r>
            <a:r>
              <a:rPr lang="en-US" dirty="0" smtClean="0"/>
              <a:t>acknowledge the receipt of the message</a:t>
            </a:r>
          </a:p>
          <a:p>
            <a:r>
              <a:rPr lang="en-US" dirty="0" smtClean="0"/>
              <a:t>If process A </a:t>
            </a:r>
            <a:r>
              <a:rPr lang="en-US" dirty="0"/>
              <a:t>might have to send </a:t>
            </a:r>
            <a:r>
              <a:rPr lang="en-US" b="1" dirty="0"/>
              <a:t>many different types </a:t>
            </a:r>
            <a:r>
              <a:rPr lang="en-US" b="1" dirty="0" smtClean="0"/>
              <a:t>messages </a:t>
            </a:r>
            <a:r>
              <a:rPr lang="en-US" dirty="0"/>
              <a:t>to </a:t>
            </a:r>
            <a:r>
              <a:rPr lang="en-US" dirty="0" smtClean="0"/>
              <a:t>B, </a:t>
            </a:r>
            <a:r>
              <a:rPr lang="en-US" dirty="0"/>
              <a:t>MPI allows senders and receivers to </a:t>
            </a:r>
            <a:r>
              <a:rPr lang="en-US" dirty="0" smtClean="0"/>
              <a:t>use </a:t>
            </a:r>
            <a:r>
              <a:rPr lang="en-US" dirty="0"/>
              <a:t>specify message IDs </a:t>
            </a:r>
            <a:r>
              <a:rPr lang="en-US" dirty="0" smtClean="0"/>
              <a:t>known </a:t>
            </a:r>
            <a:r>
              <a:rPr lang="en-US" dirty="0"/>
              <a:t>as </a:t>
            </a:r>
            <a:r>
              <a:rPr lang="en-US" i="1" dirty="0"/>
              <a:t>tags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14458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 smtClean="0">
                <a:latin typeface="+mn-lt"/>
              </a:rPr>
              <a:t>Prototypes for the MPI sending and receiving functions</a:t>
            </a:r>
            <a:endParaRPr lang="en-IN" sz="3600" b="1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26340"/>
            <a:ext cx="5911322" cy="455336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7184" y="2026340"/>
            <a:ext cx="6688558" cy="448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604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06099"/>
            <a:ext cx="10515600" cy="748058"/>
          </a:xfrm>
        </p:spPr>
        <p:txBody>
          <a:bodyPr>
            <a:normAutofit/>
          </a:bodyPr>
          <a:lstStyle/>
          <a:p>
            <a:r>
              <a:rPr lang="en-IN" b="1" dirty="0" smtClean="0"/>
              <a:t>Example: 2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331843"/>
            <a:ext cx="10972800" cy="4845120"/>
          </a:xfrm>
        </p:spPr>
        <p:txBody>
          <a:bodyPr/>
          <a:lstStyle/>
          <a:p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053" y="1331843"/>
            <a:ext cx="9535226" cy="5546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44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731" y="206100"/>
            <a:ext cx="10515600" cy="469762"/>
          </a:xfrm>
        </p:spPr>
        <p:txBody>
          <a:bodyPr>
            <a:normAutofit fontScale="90000"/>
          </a:bodyPr>
          <a:lstStyle/>
          <a:p>
            <a:r>
              <a:rPr lang="en-IN" b="1" dirty="0" smtClean="0"/>
              <a:t>Example 2 Continuation…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48" y="1411357"/>
            <a:ext cx="11121340" cy="4765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070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1852" y="215486"/>
            <a:ext cx="10515600" cy="659158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F</a:t>
            </a:r>
            <a:r>
              <a:rPr lang="en-IN" b="1" dirty="0" smtClean="0"/>
              <a:t>eatures </a:t>
            </a:r>
            <a:r>
              <a:rPr lang="en-IN" b="1" dirty="0"/>
              <a:t>of MPI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6713" y="1510748"/>
            <a:ext cx="11290851" cy="4666215"/>
          </a:xfrm>
        </p:spPr>
        <p:txBody>
          <a:bodyPr/>
          <a:lstStyle/>
          <a:p>
            <a:r>
              <a:rPr lang="en-US" dirty="0" smtClean="0"/>
              <a:t>Supports both  point to point communication and collective communication</a:t>
            </a:r>
          </a:p>
          <a:p>
            <a:r>
              <a:rPr lang="en-US" dirty="0" smtClean="0"/>
              <a:t>Provides support for the design of safe, modular parallel software libraries</a:t>
            </a:r>
          </a:p>
          <a:p>
            <a:r>
              <a:rPr lang="en-IN" dirty="0" smtClean="0"/>
              <a:t>General or derived datatypes</a:t>
            </a:r>
          </a:p>
          <a:p>
            <a:r>
              <a:rPr lang="en-US" dirty="0" smtClean="0"/>
              <a:t>Provides a </a:t>
            </a:r>
            <a:r>
              <a:rPr lang="en-US" dirty="0"/>
              <a:t>rich set of collective communication </a:t>
            </a:r>
            <a:r>
              <a:rPr lang="en-US" dirty="0" smtClean="0"/>
              <a:t>routines</a:t>
            </a:r>
          </a:p>
          <a:p>
            <a:r>
              <a:rPr lang="en-US" dirty="0"/>
              <a:t>Blocking and nonblocking versions of the routines are </a:t>
            </a:r>
            <a:r>
              <a:rPr lang="en-US" dirty="0" smtClean="0"/>
              <a:t>provided</a:t>
            </a:r>
          </a:p>
          <a:p>
            <a:r>
              <a:rPr lang="en-US" dirty="0" smtClean="0"/>
              <a:t>Buffering is available</a:t>
            </a:r>
          </a:p>
          <a:p>
            <a:r>
              <a:rPr lang="en-US" dirty="0" smtClean="0"/>
              <a:t>Message ordering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76106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763105" y="2782956"/>
            <a:ext cx="512247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5400" b="1" dirty="0">
                <a:solidFill>
                  <a:srgbClr val="FF0000"/>
                </a:solidFill>
              </a:rPr>
              <a:t>MPI vs OpenMP</a:t>
            </a:r>
          </a:p>
        </p:txBody>
      </p:sp>
    </p:spTree>
    <p:extLst>
      <p:ext uri="{BB962C8B-B14F-4D97-AF65-F5344CB8AC3E}">
        <p14:creationId xmlns:p14="http://schemas.microsoft.com/office/powerpoint/2010/main" val="3110529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0662890"/>
              </p:ext>
            </p:extLst>
          </p:nvPr>
        </p:nvGraphicFramePr>
        <p:xfrm>
          <a:off x="287693" y="184107"/>
          <a:ext cx="11654098" cy="63197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27049"/>
                <a:gridCol w="5827049"/>
              </a:tblGrid>
              <a:tr h="513672">
                <a:tc>
                  <a:txBody>
                    <a:bodyPr/>
                    <a:lstStyle/>
                    <a:p>
                      <a:pPr algn="ctr"/>
                      <a:r>
                        <a:rPr lang="en-IN" sz="2800" dirty="0" smtClean="0"/>
                        <a:t>MPI</a:t>
                      </a:r>
                      <a:endParaRPr lang="en-IN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 smtClean="0"/>
                        <a:t>OpenMP</a:t>
                      </a:r>
                      <a:endParaRPr lang="en-IN" sz="2800" dirty="0"/>
                    </a:p>
                  </a:txBody>
                  <a:tcPr/>
                </a:tc>
              </a:tr>
              <a:tr h="1299289">
                <a:tc>
                  <a:txBody>
                    <a:bodyPr/>
                    <a:lstStyle/>
                    <a:p>
                      <a:pPr algn="just"/>
                      <a:r>
                        <a:rPr lang="en-US" sz="20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Available from different vendor and can be compiled in desired platform. One can use any of MPI API </a:t>
                      </a:r>
                      <a:r>
                        <a:rPr lang="en-US" sz="20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i.e</a:t>
                      </a:r>
                      <a:r>
                        <a:rPr lang="en-US" sz="20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MPICH, </a:t>
                      </a:r>
                      <a:r>
                        <a:rPr lang="en-US" sz="20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OpenMPI</a:t>
                      </a:r>
                      <a:r>
                        <a:rPr lang="en-US" sz="20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or other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OpenMP are hooked with compiler but have specific implementation. User is at liberty with changing compiler but not with OpenMP implementation</a:t>
                      </a:r>
                      <a:endParaRPr lang="en-IN" sz="2000" dirty="0"/>
                    </a:p>
                  </a:txBody>
                  <a:tcPr/>
                </a:tc>
              </a:tr>
              <a:tr h="694968">
                <a:tc>
                  <a:txBody>
                    <a:bodyPr/>
                    <a:lstStyle/>
                    <a:p>
                      <a:pPr algn="just"/>
                      <a:r>
                        <a:rPr lang="en-US" sz="20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MPI target both distributed as well shared memory system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OpenMP target only shared memory system</a:t>
                      </a:r>
                      <a:endParaRPr lang="en-IN" sz="2000" dirty="0"/>
                    </a:p>
                  </a:txBody>
                  <a:tcPr/>
                </a:tc>
              </a:tr>
              <a:tr h="392808">
                <a:tc>
                  <a:txBody>
                    <a:bodyPr/>
                    <a:lstStyle/>
                    <a:p>
                      <a:pPr algn="just"/>
                      <a:r>
                        <a:rPr lang="en-US" sz="20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Based on both process and thread based approach 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20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Only thread based parallelism</a:t>
                      </a:r>
                      <a:endParaRPr lang="en-IN" sz="2000" dirty="0"/>
                    </a:p>
                  </a:txBody>
                  <a:tcPr/>
                </a:tc>
              </a:tr>
              <a:tr h="997129">
                <a:tc>
                  <a:txBody>
                    <a:bodyPr/>
                    <a:lstStyle/>
                    <a:p>
                      <a:pPr algn="just"/>
                      <a:r>
                        <a:rPr lang="en-US" sz="20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Overhead for creating process is one time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Depending on implementation, threads can be created and joined for particular task which add overhead</a:t>
                      </a:r>
                      <a:endParaRPr lang="en-IN" sz="2000" dirty="0"/>
                    </a:p>
                  </a:txBody>
                  <a:tcPr/>
                </a:tc>
              </a:tr>
              <a:tr h="694968">
                <a:tc>
                  <a:txBody>
                    <a:bodyPr/>
                    <a:lstStyle/>
                    <a:p>
                      <a:pPr algn="just"/>
                      <a:r>
                        <a:rPr lang="en-US" sz="20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There are overheads associated with transferring message from one process to another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 such overheads, as thread can share variables</a:t>
                      </a:r>
                      <a:endParaRPr lang="en-IN" sz="2000" dirty="0"/>
                    </a:p>
                  </a:txBody>
                  <a:tcPr/>
                </a:tc>
              </a:tr>
              <a:tr h="694968">
                <a:tc>
                  <a:txBody>
                    <a:bodyPr/>
                    <a:lstStyle/>
                    <a:p>
                      <a:pPr algn="just"/>
                      <a:r>
                        <a:rPr lang="en-US" sz="20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Process in MPI  has private variable only, no shared variable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 OpenMP , threads have both private as well shared variable</a:t>
                      </a:r>
                      <a:endParaRPr lang="en-IN" sz="2000" dirty="0"/>
                    </a:p>
                  </a:txBody>
                  <a:tcPr/>
                </a:tc>
              </a:tr>
              <a:tr h="997129">
                <a:tc>
                  <a:txBody>
                    <a:bodyPr/>
                    <a:lstStyle/>
                    <a:p>
                      <a:pPr algn="just"/>
                      <a:r>
                        <a:rPr lang="en-US" sz="20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 racing is not there if not using any thread in process</a:t>
                      </a:r>
                    </a:p>
                    <a:p>
                      <a:pPr algn="just"/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1415"/>
                        </a:spcAft>
                      </a:pPr>
                      <a:r>
                        <a:rPr lang="en-IN" sz="2000" dirty="0">
                          <a:effectLst/>
                        </a:rPr>
                        <a:t>Data racing is inherent in OpenMP model</a:t>
                      </a:r>
                    </a:p>
                  </a:txBody>
                  <a:tcPr marL="66675" marR="66675" marT="66675" marB="66675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8155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3225</TotalTime>
  <Words>929</Words>
  <Application>Microsoft Office PowerPoint</Application>
  <PresentationFormat>Widescreen</PresentationFormat>
  <Paragraphs>182</Paragraphs>
  <Slides>25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Arial</vt:lpstr>
      <vt:lpstr>Calibri</vt:lpstr>
      <vt:lpstr>Calibri Light</vt:lpstr>
      <vt:lpstr>Cambria</vt:lpstr>
      <vt:lpstr>Courier</vt:lpstr>
      <vt:lpstr>Courier New</vt:lpstr>
      <vt:lpstr>Office Theme</vt:lpstr>
      <vt:lpstr>PowerPoint Presentation</vt:lpstr>
      <vt:lpstr>Why Message Passing</vt:lpstr>
      <vt:lpstr>MESSAGE PASSING</vt:lpstr>
      <vt:lpstr>Message Passing Interface - MPI</vt:lpstr>
      <vt:lpstr>Message Passing Interface - MPI</vt:lpstr>
      <vt:lpstr>History</vt:lpstr>
      <vt:lpstr>Why MPI is simple?</vt:lpstr>
      <vt:lpstr>Programming Model:</vt:lpstr>
      <vt:lpstr>PowerPoint Presentation</vt:lpstr>
      <vt:lpstr>MPI’s design for the message passing model</vt:lpstr>
      <vt:lpstr>MPI’s design for the message passing model</vt:lpstr>
      <vt:lpstr>MPI Program Structure</vt:lpstr>
      <vt:lpstr>A Minimal MPI Program (C)</vt:lpstr>
      <vt:lpstr>Finding Out About the Environment</vt:lpstr>
      <vt:lpstr>Better Hello (C)</vt:lpstr>
      <vt:lpstr>Example Program</vt:lpstr>
      <vt:lpstr>Example Program</vt:lpstr>
      <vt:lpstr>Basic MPI types</vt:lpstr>
      <vt:lpstr>MPI Send and Receive operations</vt:lpstr>
      <vt:lpstr>Prototypes for the MPI sending and receiving functions</vt:lpstr>
      <vt:lpstr>Example: 2</vt:lpstr>
      <vt:lpstr>Example 2 Continuation…</vt:lpstr>
      <vt:lpstr>Features of MPI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3</dc:title>
  <dc:creator>Admin</dc:creator>
  <cp:lastModifiedBy>Admin</cp:lastModifiedBy>
  <cp:revision>134</cp:revision>
  <dcterms:created xsi:type="dcterms:W3CDTF">2018-07-31T16:36:02Z</dcterms:created>
  <dcterms:modified xsi:type="dcterms:W3CDTF">2022-03-07T10:09:05Z</dcterms:modified>
</cp:coreProperties>
</file>