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256" r:id="rId3"/>
    <p:sldId id="318" r:id="rId4"/>
    <p:sldId id="319" r:id="rId5"/>
    <p:sldId id="336" r:id="rId6"/>
    <p:sldId id="338" r:id="rId7"/>
    <p:sldId id="337" r:id="rId8"/>
    <p:sldId id="320" r:id="rId9"/>
    <p:sldId id="339" r:id="rId10"/>
    <p:sldId id="334" r:id="rId11"/>
    <p:sldId id="340" r:id="rId12"/>
    <p:sldId id="342" r:id="rId13"/>
    <p:sldId id="343" r:id="rId14"/>
    <p:sldId id="341" r:id="rId15"/>
    <p:sldId id="345" r:id="rId16"/>
    <p:sldId id="344" r:id="rId17"/>
    <p:sldId id="321" r:id="rId18"/>
    <p:sldId id="322" r:id="rId19"/>
    <p:sldId id="323" r:id="rId20"/>
    <p:sldId id="347" r:id="rId21"/>
    <p:sldId id="326" r:id="rId22"/>
    <p:sldId id="349" r:id="rId23"/>
    <p:sldId id="333" r:id="rId24"/>
    <p:sldId id="348" r:id="rId25"/>
    <p:sldId id="327" r:id="rId26"/>
    <p:sldId id="335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2301" y="2240908"/>
            <a:ext cx="4327397" cy="1885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8766" y="1584782"/>
            <a:ext cx="10294467" cy="268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0" y="1066800"/>
            <a:ext cx="6781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#define MAX 999</a:t>
            </a:r>
          </a:p>
          <a:p>
            <a:endParaRPr lang="en-IN" sz="2400" dirty="0"/>
          </a:p>
          <a:p>
            <a:r>
              <a:rPr lang="en-IN" sz="2400" dirty="0" err="1"/>
              <a:t>int</a:t>
            </a:r>
            <a:r>
              <a:rPr lang="en-IN" sz="2400" dirty="0"/>
              <a:t> main()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 </a:t>
            </a:r>
            <a:r>
              <a:rPr lang="en-IN" sz="2400" dirty="0" err="1"/>
              <a:t>int</a:t>
            </a:r>
            <a:r>
              <a:rPr lang="en-IN" sz="2400" dirty="0"/>
              <a:t> count = 0;</a:t>
            </a:r>
          </a:p>
          <a:p>
            <a:r>
              <a:rPr lang="en-IN" sz="2400" dirty="0"/>
              <a:t>   #pragma </a:t>
            </a:r>
            <a:r>
              <a:rPr lang="en-IN" sz="2400" dirty="0" err="1"/>
              <a:t>omp</a:t>
            </a:r>
            <a:r>
              <a:rPr lang="en-IN" sz="2400" dirty="0"/>
              <a:t> parallel </a:t>
            </a:r>
            <a:r>
              <a:rPr lang="en-IN" sz="2400" b="1" dirty="0" err="1"/>
              <a:t>num_threads</a:t>
            </a:r>
            <a:r>
              <a:rPr lang="en-IN" sz="2400" b="1" dirty="0"/>
              <a:t>(MAX)</a:t>
            </a:r>
          </a:p>
          <a:p>
            <a:r>
              <a:rPr lang="en-IN" sz="2400" dirty="0"/>
              <a:t>   {</a:t>
            </a:r>
          </a:p>
          <a:p>
            <a:r>
              <a:rPr lang="en-IN" sz="2400" dirty="0"/>
              <a:t>      count++;</a:t>
            </a:r>
          </a:p>
          <a:p>
            <a:r>
              <a:rPr lang="en-IN" sz="2400" dirty="0"/>
              <a:t>   }</a:t>
            </a:r>
          </a:p>
          <a:p>
            <a:r>
              <a:rPr lang="en-IN" sz="2400" dirty="0"/>
              <a:t>   </a:t>
            </a:r>
            <a:r>
              <a:rPr lang="en-IN" sz="2400" dirty="0" err="1"/>
              <a:t>printf_s</a:t>
            </a:r>
            <a:r>
              <a:rPr lang="en-IN" sz="2400" dirty="0"/>
              <a:t>("Number of threads: %d\n", count);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78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2133600"/>
            <a:ext cx="7116699" cy="817531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055"/>
              </a:spcBef>
            </a:pPr>
            <a:r>
              <a:rPr lang="en-IN" sz="3600" b="1" spc="-15" dirty="0" smtClean="0">
                <a:solidFill>
                  <a:srgbClr val="000000"/>
                </a:solidFill>
                <a:latin typeface="Calibri"/>
                <a:cs typeface="Calibri"/>
              </a:rPr>
              <a:t>Synchronization </a:t>
            </a:r>
            <a:r>
              <a:rPr lang="en-IN" sz="3600" b="1" spc="-15" dirty="0">
                <a:solidFill>
                  <a:srgbClr val="000000"/>
                </a:solidFill>
                <a:latin typeface="Calibri"/>
                <a:cs typeface="Calibri"/>
              </a:rPr>
              <a:t>Constructs</a:t>
            </a:r>
            <a:endParaRPr sz="3600" b="1" spc="-15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991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>
                <a:solidFill>
                  <a:srgbClr val="00AFEF"/>
                </a:solidFill>
              </a:rPr>
              <a:t>Synchronization</a:t>
            </a:r>
            <a:r>
              <a:rPr sz="4400" spc="-120" dirty="0">
                <a:solidFill>
                  <a:srgbClr val="00AFEF"/>
                </a:solidFill>
              </a:rPr>
              <a:t> </a:t>
            </a:r>
            <a:r>
              <a:rPr sz="4400" spc="-40" dirty="0">
                <a:solidFill>
                  <a:srgbClr val="00AFEF"/>
                </a:solidFill>
              </a:rPr>
              <a:t>Constructs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53325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Consider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example </a:t>
            </a:r>
            <a:r>
              <a:rPr sz="2800" spc="-10" dirty="0">
                <a:latin typeface="Calibri"/>
                <a:cs typeface="Calibri"/>
              </a:rPr>
              <a:t>where two threads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both </a:t>
            </a:r>
            <a:r>
              <a:rPr sz="2800" spc="-5" dirty="0">
                <a:latin typeface="Calibri"/>
                <a:cs typeface="Calibri"/>
              </a:rPr>
              <a:t>trying </a:t>
            </a:r>
            <a:r>
              <a:rPr sz="2800" spc="-20" dirty="0">
                <a:latin typeface="Calibri"/>
                <a:cs typeface="Calibri"/>
              </a:rPr>
              <a:t>to 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x </a:t>
            </a:r>
            <a:r>
              <a:rPr sz="2800" spc="-10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same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6797" y="3052255"/>
            <a:ext cx="2278719" cy="3501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91466" y="3043277"/>
            <a:ext cx="2281797" cy="35055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272" y="54610"/>
            <a:ext cx="54508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Synchronization</a:t>
            </a:r>
            <a:r>
              <a:rPr sz="4000" spc="-105" dirty="0"/>
              <a:t> </a:t>
            </a:r>
            <a:r>
              <a:rPr sz="4000" spc="-35" dirty="0"/>
              <a:t>Constructs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25272" y="1161669"/>
            <a:ext cx="11137900" cy="4684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One possible </a:t>
            </a:r>
            <a:r>
              <a:rPr sz="2600" spc="-15" dirty="0">
                <a:latin typeface="Calibri"/>
                <a:cs typeface="Calibri"/>
              </a:rPr>
              <a:t>execution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sequence: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ts val="235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1 </a:t>
            </a:r>
            <a:r>
              <a:rPr sz="2200" spc="-10" dirty="0">
                <a:latin typeface="Calibri"/>
                <a:cs typeface="Calibri"/>
              </a:rPr>
              <a:t>initializes </a:t>
            </a:r>
            <a:r>
              <a:rPr sz="2200" spc="-5" dirty="0">
                <a:latin typeface="Calibri"/>
                <a:cs typeface="Calibri"/>
              </a:rPr>
              <a:t>x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0 and </a:t>
            </a:r>
            <a:r>
              <a:rPr sz="2200" spc="-10" dirty="0">
                <a:latin typeface="Calibri"/>
                <a:cs typeface="Calibri"/>
              </a:rPr>
              <a:t>calls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update(x)</a:t>
            </a:r>
            <a:endParaRPr sz="2200" dirty="0">
              <a:latin typeface="Calibri"/>
              <a:cs typeface="Calibri"/>
            </a:endParaRPr>
          </a:p>
          <a:p>
            <a:pPr marL="698500" marR="8072120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1 adds 1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x.  </a:t>
            </a:r>
            <a:r>
              <a:rPr sz="2200" spc="-5" dirty="0">
                <a:latin typeface="Calibri"/>
                <a:cs typeface="Calibri"/>
              </a:rPr>
              <a:t>x </a:t>
            </a:r>
            <a:r>
              <a:rPr sz="2200" spc="-10" dirty="0">
                <a:latin typeface="Calibri"/>
                <a:cs typeface="Calibri"/>
              </a:rPr>
              <a:t>now </a:t>
            </a:r>
            <a:r>
              <a:rPr sz="2200" spc="-5" dirty="0">
                <a:latin typeface="Calibri"/>
                <a:cs typeface="Calibri"/>
              </a:rPr>
              <a:t>equals 1</a:t>
            </a:r>
            <a:endParaRPr sz="2200" dirty="0">
              <a:latin typeface="Calibri"/>
              <a:cs typeface="Calibri"/>
            </a:endParaRPr>
          </a:p>
          <a:p>
            <a:pPr marL="698500" marR="5443220" lvl="1" indent="-228600">
              <a:lnSpc>
                <a:spcPct val="7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2 </a:t>
            </a:r>
            <a:r>
              <a:rPr sz="2200" spc="-10" dirty="0">
                <a:latin typeface="Calibri"/>
                <a:cs typeface="Calibri"/>
              </a:rPr>
              <a:t>initializes </a:t>
            </a:r>
            <a:r>
              <a:rPr sz="2200" spc="-5" dirty="0">
                <a:latin typeface="Calibri"/>
                <a:cs typeface="Calibri"/>
              </a:rPr>
              <a:t>x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0 and </a:t>
            </a:r>
            <a:r>
              <a:rPr sz="2200" spc="-10" dirty="0">
                <a:latin typeface="Calibri"/>
                <a:cs typeface="Calibri"/>
              </a:rPr>
              <a:t>calls </a:t>
            </a:r>
            <a:r>
              <a:rPr sz="2200" spc="-15" dirty="0">
                <a:latin typeface="Calibri"/>
                <a:cs typeface="Calibri"/>
              </a:rPr>
              <a:t>update(x)  </a:t>
            </a:r>
            <a:r>
              <a:rPr sz="2200" spc="-5" dirty="0">
                <a:latin typeface="Calibri"/>
                <a:cs typeface="Calibri"/>
              </a:rPr>
              <a:t>x </a:t>
            </a:r>
            <a:r>
              <a:rPr sz="2200" spc="-10" dirty="0">
                <a:latin typeface="Calibri"/>
                <a:cs typeface="Calibri"/>
              </a:rPr>
              <a:t>now </a:t>
            </a:r>
            <a:r>
              <a:rPr sz="2200" spc="-5" dirty="0">
                <a:latin typeface="Calibri"/>
                <a:cs typeface="Calibri"/>
              </a:rPr>
              <a:t>equals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0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19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1 </a:t>
            </a:r>
            <a:r>
              <a:rPr sz="2200" spc="-10" dirty="0">
                <a:latin typeface="Calibri"/>
                <a:cs typeface="Calibri"/>
              </a:rPr>
              <a:t>prints x, </a:t>
            </a:r>
            <a:r>
              <a:rPr sz="2200" spc="-5" dirty="0">
                <a:latin typeface="Calibri"/>
                <a:cs typeface="Calibri"/>
              </a:rPr>
              <a:t>which is </a:t>
            </a:r>
            <a:r>
              <a:rPr sz="2200" spc="-10" dirty="0">
                <a:latin typeface="Calibri"/>
                <a:cs typeface="Calibri"/>
              </a:rPr>
              <a:t>equal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0 </a:t>
            </a:r>
            <a:r>
              <a:rPr sz="2200" spc="-10" dirty="0">
                <a:latin typeface="Calibri"/>
                <a:cs typeface="Calibri"/>
              </a:rPr>
              <a:t>instead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</a:t>
            </a:r>
            <a:endParaRPr sz="2200" dirty="0">
              <a:latin typeface="Calibri"/>
              <a:cs typeface="Calibri"/>
            </a:endParaRPr>
          </a:p>
          <a:p>
            <a:pPr marL="698500" marR="8072120" lvl="1" indent="-228600">
              <a:lnSpc>
                <a:spcPct val="70000"/>
              </a:lnSpc>
              <a:spcBef>
                <a:spcPts val="65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2 adds 1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x.  </a:t>
            </a:r>
            <a:r>
              <a:rPr sz="2200" spc="-5" dirty="0">
                <a:latin typeface="Calibri"/>
                <a:cs typeface="Calibri"/>
              </a:rPr>
              <a:t>x </a:t>
            </a:r>
            <a:r>
              <a:rPr sz="2200" spc="-10" dirty="0">
                <a:latin typeface="Calibri"/>
                <a:cs typeface="Calibri"/>
              </a:rPr>
              <a:t>now </a:t>
            </a:r>
            <a:r>
              <a:rPr sz="2200" spc="-5" dirty="0">
                <a:latin typeface="Calibri"/>
                <a:cs typeface="Calibri"/>
              </a:rPr>
              <a:t>equals 1.</a:t>
            </a:r>
            <a:endParaRPr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35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2 </a:t>
            </a:r>
            <a:r>
              <a:rPr sz="2200" spc="-10" dirty="0">
                <a:latin typeface="Calibri"/>
                <a:cs typeface="Calibri"/>
              </a:rPr>
              <a:t>prints </a:t>
            </a:r>
            <a:r>
              <a:rPr sz="2200" spc="-5" dirty="0">
                <a:latin typeface="Calibri"/>
                <a:cs typeface="Calibri"/>
              </a:rPr>
              <a:t>x as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1.</a:t>
            </a: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000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avoid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situation </a:t>
            </a:r>
            <a:r>
              <a:rPr sz="2600" spc="-20" dirty="0">
                <a:latin typeface="Calibri"/>
                <a:cs typeface="Calibri"/>
              </a:rPr>
              <a:t>like </a:t>
            </a:r>
            <a:r>
              <a:rPr sz="2600" dirty="0">
                <a:latin typeface="Calibri"/>
                <a:cs typeface="Calibri"/>
              </a:rPr>
              <a:t>this, the </a:t>
            </a:r>
            <a:r>
              <a:rPr sz="2600" spc="-5" dirty="0">
                <a:latin typeface="Calibri"/>
                <a:cs typeface="Calibri"/>
              </a:rPr>
              <a:t>updating of </a:t>
            </a:r>
            <a:r>
              <a:rPr sz="2600" dirty="0">
                <a:latin typeface="Calibri"/>
                <a:cs typeface="Calibri"/>
              </a:rPr>
              <a:t>x </a:t>
            </a:r>
            <a:r>
              <a:rPr sz="2600" spc="-10" dirty="0">
                <a:latin typeface="Calibri"/>
                <a:cs typeface="Calibri"/>
              </a:rPr>
              <a:t>must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spc="-15" dirty="0">
                <a:latin typeface="Calibri"/>
                <a:cs typeface="Calibri"/>
              </a:rPr>
              <a:t>synchronized </a:t>
            </a:r>
            <a:r>
              <a:rPr sz="2600" spc="-5" dirty="0">
                <a:latin typeface="Calibri"/>
                <a:cs typeface="Calibri"/>
              </a:rPr>
              <a:t>between </a:t>
            </a:r>
            <a:r>
              <a:rPr sz="2600" dirty="0">
                <a:latin typeface="Calibri"/>
                <a:cs typeface="Calibri"/>
              </a:rPr>
              <a:t>the  </a:t>
            </a:r>
            <a:r>
              <a:rPr sz="2600" spc="-10" dirty="0">
                <a:latin typeface="Calibri"/>
                <a:cs typeface="Calibri"/>
              </a:rPr>
              <a:t>two </a:t>
            </a:r>
            <a:r>
              <a:rPr sz="2600" spc="-5" dirty="0">
                <a:latin typeface="Calibri"/>
                <a:cs typeface="Calibri"/>
              </a:rPr>
              <a:t>threads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ensure that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correct </a:t>
            </a:r>
            <a:r>
              <a:rPr sz="2600" spc="-5" dirty="0">
                <a:latin typeface="Calibri"/>
                <a:cs typeface="Calibri"/>
              </a:rPr>
              <a:t>result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produced.</a:t>
            </a:r>
            <a:endParaRPr sz="2600" dirty="0">
              <a:latin typeface="Calibri"/>
              <a:cs typeface="Calibri"/>
            </a:endParaRPr>
          </a:p>
          <a:p>
            <a:pPr marL="241300" marR="36449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OpenMP </a:t>
            </a:r>
            <a:r>
              <a:rPr sz="2600" spc="-10" dirty="0">
                <a:latin typeface="Calibri"/>
                <a:cs typeface="Calibri"/>
              </a:rPr>
              <a:t>provides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variety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Synchronization </a:t>
            </a:r>
            <a:r>
              <a:rPr sz="2600" spc="-5" dirty="0">
                <a:latin typeface="Calibri"/>
                <a:cs typeface="Calibri"/>
              </a:rPr>
              <a:t>Constructs that </a:t>
            </a:r>
            <a:r>
              <a:rPr sz="2600" spc="-15" dirty="0">
                <a:latin typeface="Calibri"/>
                <a:cs typeface="Calibri"/>
              </a:rPr>
              <a:t>control </a:t>
            </a:r>
            <a:r>
              <a:rPr sz="2600" spc="-10" dirty="0">
                <a:latin typeface="Calibri"/>
                <a:cs typeface="Calibri"/>
              </a:rPr>
              <a:t>how </a:t>
            </a:r>
            <a:r>
              <a:rPr sz="2600" dirty="0">
                <a:latin typeface="Calibri"/>
                <a:cs typeface="Calibri"/>
              </a:rPr>
              <a:t>the  </a:t>
            </a:r>
            <a:r>
              <a:rPr sz="2600" spc="-10" dirty="0">
                <a:latin typeface="Calibri"/>
                <a:cs typeface="Calibri"/>
              </a:rPr>
              <a:t>execution </a:t>
            </a:r>
            <a:r>
              <a:rPr sz="2600" dirty="0">
                <a:latin typeface="Calibri"/>
                <a:cs typeface="Calibri"/>
              </a:rPr>
              <a:t>of each </a:t>
            </a:r>
            <a:r>
              <a:rPr sz="2600" spc="-5" dirty="0">
                <a:latin typeface="Calibri"/>
                <a:cs typeface="Calibri"/>
              </a:rPr>
              <a:t>thread </a:t>
            </a:r>
            <a:r>
              <a:rPr sz="2600" spc="-10" dirty="0">
                <a:latin typeface="Calibri"/>
                <a:cs typeface="Calibri"/>
              </a:rPr>
              <a:t>proceeds relative to </a:t>
            </a:r>
            <a:r>
              <a:rPr sz="2600" spc="-5" dirty="0">
                <a:latin typeface="Calibri"/>
                <a:cs typeface="Calibri"/>
              </a:rPr>
              <a:t>other team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threads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57" y="0"/>
            <a:ext cx="3286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0" dirty="0"/>
              <a:t>Barrier</a:t>
            </a:r>
            <a:r>
              <a:rPr sz="4000" b="1" spc="-105" dirty="0"/>
              <a:t> </a:t>
            </a:r>
            <a:r>
              <a:rPr sz="4000" b="1" spc="-40" dirty="0"/>
              <a:t>Directive</a:t>
            </a:r>
            <a:endParaRPr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62457" y="1109599"/>
            <a:ext cx="8048143" cy="5370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BARRIER </a:t>
            </a:r>
            <a:r>
              <a:rPr sz="2600" spc="-10" dirty="0">
                <a:latin typeface="Calibri"/>
                <a:cs typeface="Calibri"/>
              </a:rPr>
              <a:t>directive </a:t>
            </a:r>
            <a:r>
              <a:rPr sz="2600" spc="-15" dirty="0">
                <a:latin typeface="Calibri"/>
                <a:cs typeface="Calibri"/>
              </a:rPr>
              <a:t>synchronizes </a:t>
            </a:r>
            <a:r>
              <a:rPr sz="2600" dirty="0">
                <a:latin typeface="Calibri"/>
                <a:cs typeface="Calibri"/>
              </a:rPr>
              <a:t>all </a:t>
            </a:r>
            <a:r>
              <a:rPr sz="2600" spc="-5" dirty="0">
                <a:latin typeface="Calibri"/>
                <a:cs typeface="Calibri"/>
              </a:rPr>
              <a:t>threads </a:t>
            </a:r>
            <a:r>
              <a:rPr sz="2600" dirty="0">
                <a:latin typeface="Calibri"/>
                <a:cs typeface="Calibri"/>
              </a:rPr>
              <a:t>in the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team.</a:t>
            </a:r>
            <a:endParaRPr sz="2600" dirty="0">
              <a:latin typeface="Calibri"/>
              <a:cs typeface="Calibri"/>
            </a:endParaRPr>
          </a:p>
          <a:p>
            <a:pPr marL="241300" marR="825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When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BARRIER </a:t>
            </a:r>
            <a:r>
              <a:rPr sz="2600" spc="-10" dirty="0">
                <a:latin typeface="Calibri"/>
                <a:cs typeface="Calibri"/>
              </a:rPr>
              <a:t>directive </a:t>
            </a:r>
            <a:r>
              <a:rPr sz="2600" spc="-5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reached, </a:t>
            </a:r>
            <a:r>
              <a:rPr sz="2600" i="1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600" i="1" spc="-5" dirty="0">
                <a:solidFill>
                  <a:srgbClr val="00AF50"/>
                </a:solidFill>
                <a:latin typeface="Calibri"/>
                <a:cs typeface="Calibri"/>
              </a:rPr>
              <a:t>thread </a:t>
            </a:r>
            <a:r>
              <a:rPr sz="2600" i="1" dirty="0">
                <a:solidFill>
                  <a:srgbClr val="00AF50"/>
                </a:solidFill>
                <a:latin typeface="Calibri"/>
                <a:cs typeface="Calibri"/>
              </a:rPr>
              <a:t>will </a:t>
            </a:r>
            <a:r>
              <a:rPr sz="2600" i="1" spc="-5" dirty="0">
                <a:solidFill>
                  <a:srgbClr val="00AF50"/>
                </a:solidFill>
                <a:latin typeface="Calibri"/>
                <a:cs typeface="Calibri"/>
              </a:rPr>
              <a:t>wait </a:t>
            </a:r>
            <a:r>
              <a:rPr sz="2600" i="1" dirty="0">
                <a:solidFill>
                  <a:srgbClr val="00AF50"/>
                </a:solidFill>
                <a:latin typeface="Calibri"/>
                <a:cs typeface="Calibri"/>
              </a:rPr>
              <a:t>at </a:t>
            </a:r>
            <a:r>
              <a:rPr sz="2600" i="1" spc="-5" dirty="0">
                <a:solidFill>
                  <a:srgbClr val="00AF50"/>
                </a:solidFill>
                <a:latin typeface="Calibri"/>
                <a:cs typeface="Calibri"/>
              </a:rPr>
              <a:t>that </a:t>
            </a:r>
            <a:r>
              <a:rPr sz="2600" i="1" spc="-10" dirty="0">
                <a:solidFill>
                  <a:srgbClr val="00AF50"/>
                </a:solidFill>
                <a:latin typeface="Calibri"/>
                <a:cs typeface="Calibri"/>
              </a:rPr>
              <a:t>point until  </a:t>
            </a:r>
            <a:r>
              <a:rPr sz="2600" i="1" spc="-5" dirty="0">
                <a:solidFill>
                  <a:srgbClr val="00AF50"/>
                </a:solidFill>
                <a:latin typeface="Calibri"/>
                <a:cs typeface="Calibri"/>
              </a:rPr>
              <a:t>all other </a:t>
            </a:r>
            <a:r>
              <a:rPr sz="2600" i="1" dirty="0">
                <a:solidFill>
                  <a:srgbClr val="00AF50"/>
                </a:solidFill>
                <a:latin typeface="Calibri"/>
                <a:cs typeface="Calibri"/>
              </a:rPr>
              <a:t>threads have reached that</a:t>
            </a:r>
            <a:r>
              <a:rPr sz="2600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i="1" spc="-30" dirty="0">
                <a:solidFill>
                  <a:srgbClr val="00AF50"/>
                </a:solidFill>
                <a:latin typeface="Calibri"/>
                <a:cs typeface="Calibri"/>
              </a:rPr>
              <a:t>barrier.</a:t>
            </a:r>
            <a:endParaRPr sz="2600" dirty="0">
              <a:latin typeface="Calibri"/>
              <a:cs typeface="Calibri"/>
            </a:endParaRPr>
          </a:p>
          <a:p>
            <a:pPr marL="241300" marR="5715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  <a:tab pos="725805" algn="l"/>
                <a:tab pos="1884045" algn="l"/>
                <a:tab pos="2646045" algn="l"/>
                <a:tab pos="3787775" algn="l"/>
                <a:tab pos="5214620" algn="l"/>
                <a:tab pos="5603240" algn="l"/>
                <a:tab pos="6735445" algn="l"/>
                <a:tab pos="7324090" algn="l"/>
                <a:tab pos="8111490" algn="l"/>
                <a:tab pos="8803640" algn="l"/>
                <a:tab pos="9896475" algn="l"/>
              </a:tabLst>
            </a:pPr>
            <a:r>
              <a:rPr sz="2600" dirty="0" smtClean="0">
                <a:latin typeface="Calibri"/>
                <a:cs typeface="Calibri"/>
              </a:rPr>
              <a:t>All	</a:t>
            </a:r>
            <a:r>
              <a:rPr sz="2600" spc="-15" dirty="0" smtClean="0">
                <a:latin typeface="Calibri"/>
                <a:cs typeface="Calibri"/>
              </a:rPr>
              <a:t>t</a:t>
            </a:r>
            <a:r>
              <a:rPr sz="2600" spc="-5" dirty="0" smtClean="0">
                <a:latin typeface="Calibri"/>
                <a:cs typeface="Calibri"/>
              </a:rPr>
              <a:t>h</a:t>
            </a:r>
            <a:r>
              <a:rPr sz="2600" spc="-35" dirty="0" smtClean="0">
                <a:latin typeface="Calibri"/>
                <a:cs typeface="Calibri"/>
              </a:rPr>
              <a:t>r</a:t>
            </a:r>
            <a:r>
              <a:rPr sz="2600" dirty="0" smtClean="0">
                <a:latin typeface="Calibri"/>
                <a:cs typeface="Calibri"/>
              </a:rPr>
              <a:t>e</a:t>
            </a:r>
            <a:r>
              <a:rPr sz="2600" spc="-15" dirty="0" smtClean="0">
                <a:latin typeface="Calibri"/>
                <a:cs typeface="Calibri"/>
              </a:rPr>
              <a:t>a</a:t>
            </a:r>
            <a:r>
              <a:rPr sz="2600" spc="-5" dirty="0" smtClean="0">
                <a:latin typeface="Calibri"/>
                <a:cs typeface="Calibri"/>
              </a:rPr>
              <a:t>d</a:t>
            </a:r>
            <a:r>
              <a:rPr sz="2600" dirty="0" smtClean="0">
                <a:latin typeface="Calibri"/>
                <a:cs typeface="Calibri"/>
              </a:rPr>
              <a:t>s	th</a:t>
            </a:r>
            <a:r>
              <a:rPr sz="2600" spc="-15" dirty="0" smtClean="0">
                <a:latin typeface="Calibri"/>
                <a:cs typeface="Calibri"/>
              </a:rPr>
              <a:t>e</a:t>
            </a:r>
            <a:r>
              <a:rPr sz="2600" dirty="0" smtClean="0">
                <a:latin typeface="Calibri"/>
                <a:cs typeface="Calibri"/>
              </a:rPr>
              <a:t>n	</a:t>
            </a:r>
            <a:r>
              <a:rPr sz="2600" spc="-50" dirty="0" smtClean="0">
                <a:latin typeface="Calibri"/>
                <a:cs typeface="Calibri"/>
              </a:rPr>
              <a:t>r</a:t>
            </a:r>
            <a:r>
              <a:rPr sz="2600" dirty="0" smtClean="0">
                <a:latin typeface="Calibri"/>
                <a:cs typeface="Calibri"/>
              </a:rPr>
              <a:t>e</a:t>
            </a:r>
            <a:r>
              <a:rPr sz="2600" spc="-15" dirty="0" smtClean="0">
                <a:latin typeface="Calibri"/>
                <a:cs typeface="Calibri"/>
              </a:rPr>
              <a:t>su</a:t>
            </a:r>
            <a:r>
              <a:rPr sz="2600" dirty="0" smtClean="0">
                <a:latin typeface="Calibri"/>
                <a:cs typeface="Calibri"/>
              </a:rPr>
              <a:t>me	</a:t>
            </a:r>
            <a:r>
              <a:rPr sz="2600" spc="-40" dirty="0" smtClean="0">
                <a:latin typeface="Calibri"/>
                <a:cs typeface="Calibri"/>
              </a:rPr>
              <a:t>e</a:t>
            </a:r>
            <a:r>
              <a:rPr sz="2600" spc="-85" dirty="0" smtClean="0">
                <a:latin typeface="Calibri"/>
                <a:cs typeface="Calibri"/>
              </a:rPr>
              <a:t>x</a:t>
            </a:r>
            <a:r>
              <a:rPr sz="2600" dirty="0" smtClean="0">
                <a:latin typeface="Calibri"/>
                <a:cs typeface="Calibri"/>
              </a:rPr>
              <a:t>ecut</a:t>
            </a:r>
            <a:r>
              <a:rPr sz="2600" spc="-10" dirty="0" smtClean="0">
                <a:latin typeface="Calibri"/>
                <a:cs typeface="Calibri"/>
              </a:rPr>
              <a:t>i</a:t>
            </a:r>
            <a:r>
              <a:rPr sz="2600" spc="-5" dirty="0" smtClean="0">
                <a:latin typeface="Calibri"/>
                <a:cs typeface="Calibri"/>
              </a:rPr>
              <a:t>n</a:t>
            </a:r>
            <a:r>
              <a:rPr sz="2600" dirty="0" smtClean="0">
                <a:latin typeface="Calibri"/>
                <a:cs typeface="Calibri"/>
              </a:rPr>
              <a:t>g	in	</a:t>
            </a:r>
            <a:r>
              <a:rPr sz="2600" spc="-5" dirty="0" smtClean="0">
                <a:latin typeface="Calibri"/>
                <a:cs typeface="Calibri"/>
              </a:rPr>
              <a:t>pa</a:t>
            </a:r>
            <a:r>
              <a:rPr sz="2600" spc="-50" dirty="0" smtClean="0">
                <a:latin typeface="Calibri"/>
                <a:cs typeface="Calibri"/>
              </a:rPr>
              <a:t>r</a:t>
            </a:r>
            <a:r>
              <a:rPr sz="2600" dirty="0" smtClean="0">
                <a:latin typeface="Calibri"/>
                <a:cs typeface="Calibri"/>
              </a:rPr>
              <a:t>a</a:t>
            </a:r>
            <a:r>
              <a:rPr sz="2600" spc="-15" dirty="0" smtClean="0">
                <a:latin typeface="Calibri"/>
                <a:cs typeface="Calibri"/>
              </a:rPr>
              <a:t>l</a:t>
            </a:r>
            <a:r>
              <a:rPr sz="2600" dirty="0" smtClean="0">
                <a:latin typeface="Calibri"/>
                <a:cs typeface="Calibri"/>
              </a:rPr>
              <a:t>lel	t</a:t>
            </a:r>
            <a:r>
              <a:rPr sz="2600" spc="-15" dirty="0" smtClean="0">
                <a:latin typeface="Calibri"/>
                <a:cs typeface="Calibri"/>
              </a:rPr>
              <a:t>h</a:t>
            </a:r>
            <a:r>
              <a:rPr sz="2600" dirty="0" smtClean="0">
                <a:latin typeface="Calibri"/>
                <a:cs typeface="Calibri"/>
              </a:rPr>
              <a:t>e	</a:t>
            </a:r>
            <a:r>
              <a:rPr sz="2600" spc="-25" dirty="0" smtClean="0">
                <a:latin typeface="Calibri"/>
                <a:cs typeface="Calibri"/>
              </a:rPr>
              <a:t>c</a:t>
            </a:r>
            <a:r>
              <a:rPr sz="2600" spc="-5" dirty="0" smtClean="0">
                <a:latin typeface="Calibri"/>
                <a:cs typeface="Calibri"/>
              </a:rPr>
              <a:t>o</a:t>
            </a:r>
            <a:r>
              <a:rPr sz="2600" spc="-20" dirty="0" smtClean="0">
                <a:latin typeface="Calibri"/>
                <a:cs typeface="Calibri"/>
              </a:rPr>
              <a:t>d</a:t>
            </a:r>
            <a:r>
              <a:rPr sz="2600" dirty="0" smtClean="0">
                <a:latin typeface="Calibri"/>
                <a:cs typeface="Calibri"/>
              </a:rPr>
              <a:t>e</a:t>
            </a:r>
            <a:r>
              <a:rPr lang="en-IN" sz="2600" dirty="0" smtClean="0">
                <a:latin typeface="Calibri"/>
                <a:cs typeface="Calibri"/>
              </a:rPr>
              <a:t> </a:t>
            </a:r>
            <a:r>
              <a:rPr sz="2600" dirty="0" smtClean="0">
                <a:latin typeface="Calibri"/>
                <a:cs typeface="Calibri"/>
              </a:rPr>
              <a:t>th</a:t>
            </a:r>
            <a:r>
              <a:rPr sz="2600" spc="-25" dirty="0" smtClean="0">
                <a:latin typeface="Calibri"/>
                <a:cs typeface="Calibri"/>
              </a:rPr>
              <a:t>a</a:t>
            </a:r>
            <a:r>
              <a:rPr sz="2600" dirty="0" smtClean="0">
                <a:latin typeface="Calibri"/>
                <a:cs typeface="Calibri"/>
              </a:rPr>
              <a:t>t	</a:t>
            </a:r>
            <a:r>
              <a:rPr sz="2600" spc="-65" dirty="0" smtClean="0">
                <a:latin typeface="Calibri"/>
                <a:cs typeface="Calibri"/>
              </a:rPr>
              <a:t>f</a:t>
            </a:r>
            <a:r>
              <a:rPr sz="2600" spc="-5" dirty="0" smtClean="0">
                <a:latin typeface="Calibri"/>
                <a:cs typeface="Calibri"/>
              </a:rPr>
              <a:t>ol</a:t>
            </a:r>
            <a:r>
              <a:rPr sz="2600" spc="-20" dirty="0" smtClean="0">
                <a:latin typeface="Calibri"/>
                <a:cs typeface="Calibri"/>
              </a:rPr>
              <a:t>lo</a:t>
            </a:r>
            <a:r>
              <a:rPr sz="2600" spc="-30" dirty="0" smtClean="0">
                <a:latin typeface="Calibri"/>
                <a:cs typeface="Calibri"/>
              </a:rPr>
              <a:t>w</a:t>
            </a:r>
            <a:r>
              <a:rPr sz="2600" dirty="0" smtClean="0">
                <a:latin typeface="Calibri"/>
                <a:cs typeface="Calibri"/>
              </a:rPr>
              <a:t>s	the  </a:t>
            </a:r>
            <a:r>
              <a:rPr sz="2600" spc="-5" dirty="0" smtClean="0">
                <a:latin typeface="Calibri"/>
                <a:cs typeface="Calibri"/>
              </a:rPr>
              <a:t>barrier</a:t>
            </a:r>
            <a:endParaRPr sz="2600" dirty="0" smtClean="0">
              <a:latin typeface="Calibri"/>
              <a:cs typeface="Calibri"/>
            </a:endParaRPr>
          </a:p>
          <a:p>
            <a:pPr marR="564515" algn="ctr">
              <a:lnSpc>
                <a:spcPct val="100000"/>
              </a:lnSpc>
              <a:spcBef>
                <a:spcPts val="2285"/>
              </a:spcBef>
            </a:pPr>
            <a:r>
              <a:rPr sz="2400" b="1" spc="-10" dirty="0" smtClean="0">
                <a:latin typeface="Calibri"/>
                <a:cs typeface="Calibri"/>
              </a:rPr>
              <a:t>#pragma </a:t>
            </a:r>
            <a:r>
              <a:rPr sz="2400" b="1" dirty="0" err="1" smtClean="0">
                <a:latin typeface="Calibri"/>
                <a:cs typeface="Calibri"/>
              </a:rPr>
              <a:t>omp</a:t>
            </a:r>
            <a:r>
              <a:rPr sz="2400" b="1" dirty="0" smtClean="0">
                <a:latin typeface="Calibri"/>
                <a:cs typeface="Calibri"/>
              </a:rPr>
              <a:t> barrier</a:t>
            </a:r>
            <a:r>
              <a:rPr sz="2400" b="1" spc="-60" dirty="0" smtClean="0">
                <a:latin typeface="Calibri"/>
                <a:cs typeface="Calibri"/>
              </a:rPr>
              <a:t> </a:t>
            </a:r>
            <a:r>
              <a:rPr sz="2400" b="1" i="1" spc="-10" dirty="0" smtClean="0">
                <a:latin typeface="Calibri"/>
                <a:cs typeface="Calibri"/>
              </a:rPr>
              <a:t>newline</a:t>
            </a:r>
            <a:endParaRPr sz="24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All </a:t>
            </a:r>
            <a:r>
              <a:rPr sz="2600" spc="-5" dirty="0">
                <a:latin typeface="Calibri"/>
                <a:cs typeface="Calibri"/>
              </a:rPr>
              <a:t>threads </a:t>
            </a:r>
            <a:r>
              <a:rPr sz="2600" dirty="0">
                <a:latin typeface="Calibri"/>
                <a:cs typeface="Calibri"/>
              </a:rPr>
              <a:t>in a </a:t>
            </a:r>
            <a:r>
              <a:rPr sz="2600" spc="-5" dirty="0">
                <a:latin typeface="Calibri"/>
                <a:cs typeface="Calibri"/>
              </a:rPr>
              <a:t>team </a:t>
            </a:r>
            <a:r>
              <a:rPr sz="2600" spc="-10" dirty="0">
                <a:latin typeface="Calibri"/>
                <a:cs typeface="Calibri"/>
              </a:rPr>
              <a:t>must </a:t>
            </a:r>
            <a:r>
              <a:rPr sz="2600" spc="-20" dirty="0">
                <a:latin typeface="Calibri"/>
                <a:cs typeface="Calibri"/>
              </a:rPr>
              <a:t>execute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BARRIER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region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At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end of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parallel </a:t>
            </a:r>
            <a:r>
              <a:rPr sz="2600" spc="-5" dirty="0">
                <a:latin typeface="Calibri"/>
                <a:cs typeface="Calibri"/>
              </a:rPr>
              <a:t>region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team of threads is </a:t>
            </a:r>
            <a:r>
              <a:rPr sz="2600" spc="-10" dirty="0">
                <a:latin typeface="Calibri"/>
                <a:cs typeface="Calibri"/>
              </a:rPr>
              <a:t>dissolved </a:t>
            </a:r>
            <a:r>
              <a:rPr sz="2600" spc="-5" dirty="0">
                <a:latin typeface="Calibri"/>
                <a:cs typeface="Calibri"/>
              </a:rPr>
              <a:t>and only </a:t>
            </a:r>
            <a:r>
              <a:rPr sz="2600" dirty="0">
                <a:latin typeface="Calibri"/>
                <a:cs typeface="Calibri"/>
              </a:rPr>
              <a:t>the  </a:t>
            </a:r>
            <a:r>
              <a:rPr sz="2600" spc="-10" dirty="0">
                <a:latin typeface="Calibri"/>
                <a:cs typeface="Calibri"/>
              </a:rPr>
              <a:t>master thread continues. </a:t>
            </a:r>
            <a:r>
              <a:rPr sz="2600" spc="-20" dirty="0">
                <a:latin typeface="Calibri"/>
                <a:cs typeface="Calibri"/>
              </a:rPr>
              <a:t>Therefore, </a:t>
            </a:r>
            <a:r>
              <a:rPr sz="2600" spc="-10" dirty="0">
                <a:latin typeface="Calibri"/>
                <a:cs typeface="Calibri"/>
              </a:rPr>
              <a:t>there is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i="1" spc="-5" dirty="0">
                <a:latin typeface="Calibri"/>
                <a:cs typeface="Calibri"/>
              </a:rPr>
              <a:t>implicit barrier </a:t>
            </a:r>
            <a:r>
              <a:rPr sz="2600" i="1" dirty="0">
                <a:latin typeface="Calibri"/>
                <a:cs typeface="Calibri"/>
              </a:rPr>
              <a:t>at the end  </a:t>
            </a:r>
            <a:r>
              <a:rPr sz="2600" i="1" spc="-5" dirty="0">
                <a:latin typeface="Calibri"/>
                <a:cs typeface="Calibri"/>
              </a:rPr>
              <a:t>of </a:t>
            </a:r>
            <a:r>
              <a:rPr sz="2600" i="1" dirty="0">
                <a:latin typeface="Calibri"/>
                <a:cs typeface="Calibri"/>
              </a:rPr>
              <a:t>a parallel region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9259"/>
          <a:stretch/>
        </p:blipFill>
        <p:spPr>
          <a:xfrm>
            <a:off x="8991600" y="1371600"/>
            <a:ext cx="30213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3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289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>
                <a:solidFill>
                  <a:srgbClr val="000000"/>
                </a:solidFill>
              </a:rPr>
              <a:t>Example</a:t>
            </a:r>
            <a:r>
              <a:rPr sz="4400" spc="-17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650492" y="1825752"/>
            <a:ext cx="8293607" cy="3486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402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Introduction to Open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0" y="228600"/>
            <a:ext cx="8829971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30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3850"/>
            <a:ext cx="28873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/>
              <a:t>MASTER</a:t>
            </a:r>
            <a:r>
              <a:rPr sz="3200" b="1" spc="-145" dirty="0"/>
              <a:t> </a:t>
            </a:r>
            <a:r>
              <a:rPr sz="3200" b="1" spc="-25" dirty="0"/>
              <a:t>Directive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07320" cy="38017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MASTER </a:t>
            </a:r>
            <a:r>
              <a:rPr sz="2800" spc="-15" dirty="0">
                <a:latin typeface="Calibri"/>
                <a:cs typeface="Calibri"/>
              </a:rPr>
              <a:t>directive </a:t>
            </a:r>
            <a:r>
              <a:rPr sz="2800" spc="-5" dirty="0">
                <a:latin typeface="Calibri"/>
                <a:cs typeface="Calibri"/>
              </a:rPr>
              <a:t>specifies a </a:t>
            </a:r>
            <a:r>
              <a:rPr sz="2800" spc="-10" dirty="0">
                <a:latin typeface="Calibri"/>
                <a:cs typeface="Calibri"/>
              </a:rPr>
              <a:t>region that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20" dirty="0">
                <a:latin typeface="Calibri"/>
                <a:cs typeface="Calibri"/>
              </a:rPr>
              <a:t>executed </a:t>
            </a:r>
            <a:r>
              <a:rPr sz="2800" spc="-10" dirty="0">
                <a:latin typeface="Calibri"/>
                <a:cs typeface="Calibri"/>
              </a:rPr>
              <a:t>only by 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master </a:t>
            </a:r>
            <a:r>
              <a:rPr sz="2800" spc="-10" dirty="0">
                <a:latin typeface="Calibri"/>
                <a:cs typeface="Calibri"/>
              </a:rPr>
              <a:t>thread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team.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other threads </a:t>
            </a:r>
            <a:r>
              <a:rPr sz="2800" spc="-5" dirty="0">
                <a:latin typeface="Calibri"/>
                <a:cs typeface="Calibri"/>
              </a:rPr>
              <a:t>on the </a:t>
            </a:r>
            <a:r>
              <a:rPr sz="2800" spc="-10" dirty="0">
                <a:latin typeface="Calibri"/>
                <a:cs typeface="Calibri"/>
              </a:rPr>
              <a:t>team skip this section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There </a:t>
            </a:r>
            <a:r>
              <a:rPr sz="2800" spc="-5" dirty="0">
                <a:latin typeface="Calibri"/>
                <a:cs typeface="Calibri"/>
              </a:rPr>
              <a:t>is no implied </a:t>
            </a:r>
            <a:r>
              <a:rPr sz="2800" spc="-10" dirty="0">
                <a:latin typeface="Calibri"/>
                <a:cs typeface="Calibri"/>
              </a:rPr>
              <a:t>barrier associated </a:t>
            </a:r>
            <a:r>
              <a:rPr sz="2800" spc="-5" dirty="0">
                <a:latin typeface="Calibri"/>
                <a:cs typeface="Calibri"/>
              </a:rPr>
              <a:t>with this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directive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Times New Roman"/>
              <a:cs typeface="Times New Roman"/>
            </a:endParaRPr>
          </a:p>
          <a:p>
            <a:pPr marL="2968625" marR="3482975">
              <a:lnSpc>
                <a:spcPct val="200000"/>
              </a:lnSpc>
            </a:pPr>
            <a:r>
              <a:rPr sz="2400" b="1" spc="-5" dirty="0">
                <a:latin typeface="Times New Roman"/>
                <a:cs typeface="Times New Roman"/>
              </a:rPr>
              <a:t>#pragma omp </a:t>
            </a:r>
            <a:r>
              <a:rPr sz="2400" b="1" dirty="0">
                <a:latin typeface="Times New Roman"/>
                <a:cs typeface="Times New Roman"/>
              </a:rPr>
              <a:t>master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newline  structured_block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-228600"/>
            <a:ext cx="9525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7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200" y="457200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main( 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a[5],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#pragma </a:t>
            </a:r>
            <a:r>
              <a:rPr lang="en-IN" dirty="0" err="1"/>
              <a:t>omp</a:t>
            </a:r>
            <a:r>
              <a:rPr lang="en-IN" dirty="0"/>
              <a:t> parallel</a:t>
            </a:r>
          </a:p>
          <a:p>
            <a:r>
              <a:rPr lang="en-IN" dirty="0"/>
              <a:t>    {</a:t>
            </a:r>
          </a:p>
          <a:p>
            <a:endParaRPr lang="en-IN" dirty="0"/>
          </a:p>
          <a:p>
            <a:r>
              <a:rPr lang="en-IN" dirty="0"/>
              <a:t>        #pragma </a:t>
            </a:r>
            <a:r>
              <a:rPr lang="en-IN" dirty="0" err="1"/>
              <a:t>omp</a:t>
            </a:r>
            <a:r>
              <a:rPr lang="en-IN" dirty="0"/>
              <a:t> for</a:t>
            </a:r>
          </a:p>
          <a:p>
            <a:r>
              <a:rPr lang="en-IN" dirty="0"/>
              <a:t>        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4;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            a[</a:t>
            </a:r>
            <a:r>
              <a:rPr lang="en-IN" dirty="0" err="1"/>
              <a:t>i</a:t>
            </a:r>
            <a:r>
              <a:rPr lang="en-IN" dirty="0"/>
              <a:t>] = </a:t>
            </a:r>
            <a:r>
              <a:rPr lang="en-IN" dirty="0" err="1"/>
              <a:t>i</a:t>
            </a:r>
            <a:r>
              <a:rPr lang="en-IN" dirty="0"/>
              <a:t> *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b="1" dirty="0"/>
              <a:t>        #pragma </a:t>
            </a:r>
            <a:r>
              <a:rPr lang="en-IN" b="1" dirty="0" err="1"/>
              <a:t>omp</a:t>
            </a:r>
            <a:r>
              <a:rPr lang="en-IN" b="1" dirty="0"/>
              <a:t> master</a:t>
            </a:r>
          </a:p>
          <a:p>
            <a:r>
              <a:rPr lang="en-IN" dirty="0"/>
              <a:t>            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4;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                </a:t>
            </a:r>
            <a:r>
              <a:rPr lang="en-IN" dirty="0" err="1"/>
              <a:t>printf</a:t>
            </a:r>
            <a:r>
              <a:rPr lang="en-IN" dirty="0"/>
              <a:t>("a[%d] = %d\n", </a:t>
            </a:r>
            <a:r>
              <a:rPr lang="en-IN" dirty="0" err="1"/>
              <a:t>i</a:t>
            </a:r>
            <a:r>
              <a:rPr lang="en-IN" dirty="0"/>
              <a:t>, a[</a:t>
            </a:r>
            <a:r>
              <a:rPr lang="en-IN" dirty="0" err="1"/>
              <a:t>i</a:t>
            </a:r>
            <a:r>
              <a:rPr lang="en-IN" dirty="0" smtClean="0"/>
              <a:t>]);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    #pragma </a:t>
            </a:r>
            <a:r>
              <a:rPr lang="en-IN" dirty="0" err="1"/>
              <a:t>omp</a:t>
            </a:r>
            <a:r>
              <a:rPr lang="en-IN" dirty="0"/>
              <a:t> for</a:t>
            </a:r>
          </a:p>
          <a:p>
            <a:r>
              <a:rPr lang="en-IN" dirty="0"/>
              <a:t>        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4;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            a[</a:t>
            </a:r>
            <a:r>
              <a:rPr lang="en-IN" dirty="0" err="1"/>
              <a:t>i</a:t>
            </a:r>
            <a:r>
              <a:rPr lang="en-IN" dirty="0"/>
              <a:t>] +=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017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5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0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2" name="Picture 4" descr="https://player.slideplayer.com/92/15160127/slides/slide_3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-152400"/>
            <a:ext cx="97536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2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1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335846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main( 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tid</a:t>
            </a:r>
            <a:r>
              <a:rPr lang="en-IN" dirty="0"/>
              <a:t>;</a:t>
            </a:r>
          </a:p>
          <a:p>
            <a:r>
              <a:rPr lang="en-IN" dirty="0"/>
              <a:t>    #pragma </a:t>
            </a:r>
            <a:r>
              <a:rPr lang="en-IN" dirty="0" err="1"/>
              <a:t>omp</a:t>
            </a:r>
            <a:r>
              <a:rPr lang="en-IN" dirty="0"/>
              <a:t> parallel private(</a:t>
            </a:r>
            <a:r>
              <a:rPr lang="en-IN" dirty="0" err="1"/>
              <a:t>tid</a:t>
            </a:r>
            <a:r>
              <a:rPr lang="en-IN" dirty="0"/>
              <a:t>)</a:t>
            </a:r>
          </a:p>
          <a:p>
            <a:r>
              <a:rPr lang="en-IN" dirty="0"/>
              <a:t>    {</a:t>
            </a:r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 err="1"/>
              <a:t>tid</a:t>
            </a:r>
            <a:r>
              <a:rPr lang="en-IN" dirty="0"/>
              <a:t>=</a:t>
            </a:r>
            <a:r>
              <a:rPr lang="en-IN" dirty="0" err="1"/>
              <a:t>omp_get_thread_num</a:t>
            </a:r>
            <a:r>
              <a:rPr lang="en-IN" dirty="0"/>
              <a:t>();</a:t>
            </a:r>
          </a:p>
          <a:p>
            <a:r>
              <a:rPr lang="en-IN" dirty="0"/>
              <a:t> </a:t>
            </a:r>
            <a:r>
              <a:rPr lang="en-IN" dirty="0" err="1"/>
              <a:t>printf</a:t>
            </a:r>
            <a:r>
              <a:rPr lang="en-IN" dirty="0"/>
              <a:t>("Thread %d starting\n", </a:t>
            </a:r>
            <a:r>
              <a:rPr lang="en-IN" dirty="0" err="1"/>
              <a:t>tid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    #pragma </a:t>
            </a:r>
            <a:r>
              <a:rPr lang="en-IN" dirty="0" err="1"/>
              <a:t>omp</a:t>
            </a:r>
            <a:r>
              <a:rPr lang="en-IN" dirty="0"/>
              <a:t> single </a:t>
            </a:r>
            <a:r>
              <a:rPr lang="en-IN" dirty="0" err="1"/>
              <a:t>nowait</a:t>
            </a:r>
            <a:endParaRPr lang="en-IN" dirty="0"/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</a:t>
            </a:r>
            <a:r>
              <a:rPr lang="en-IN" dirty="0" err="1"/>
              <a:t>printf</a:t>
            </a:r>
            <a:r>
              <a:rPr lang="en-IN" dirty="0"/>
              <a:t>("Thread %d doing work\n", </a:t>
            </a:r>
            <a:r>
              <a:rPr lang="en-IN" dirty="0" err="1"/>
              <a:t>tid</a:t>
            </a:r>
            <a:r>
              <a:rPr lang="en-IN" dirty="0"/>
              <a:t>);</a:t>
            </a:r>
          </a:p>
          <a:p>
            <a:r>
              <a:rPr lang="en-IN" dirty="0"/>
              <a:t>                sleep(10);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 </a:t>
            </a:r>
            <a:r>
              <a:rPr lang="en-IN" dirty="0" err="1"/>
              <a:t>printf</a:t>
            </a:r>
            <a:r>
              <a:rPr lang="en-IN" dirty="0"/>
              <a:t>("Thread %d reached barrier\n", </a:t>
            </a:r>
            <a:r>
              <a:rPr lang="en-IN" dirty="0" err="1"/>
              <a:t>tid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#pragma </a:t>
            </a:r>
            <a:r>
              <a:rPr lang="en-IN" dirty="0" err="1"/>
              <a:t>omp</a:t>
            </a:r>
            <a:r>
              <a:rPr lang="en-IN" dirty="0"/>
              <a:t> barrier</a:t>
            </a:r>
          </a:p>
          <a:p>
            <a:r>
              <a:rPr lang="en-IN" dirty="0"/>
              <a:t>             </a:t>
            </a:r>
            <a:r>
              <a:rPr lang="en-IN" dirty="0" err="1"/>
              <a:t>printf</a:t>
            </a:r>
            <a:r>
              <a:rPr lang="en-IN" dirty="0"/>
              <a:t>("Thread %d done\n", </a:t>
            </a:r>
            <a:r>
              <a:rPr lang="en-IN" dirty="0" err="1"/>
              <a:t>tid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510"/>
            <a:ext cx="10744200" cy="553998"/>
          </a:xfrm>
        </p:spPr>
        <p:txBody>
          <a:bodyPr/>
          <a:lstStyle/>
          <a:p>
            <a:pPr algn="ctr"/>
            <a:r>
              <a:rPr lang="en-IN" sz="3600" b="1" dirty="0" smtClean="0"/>
              <a:t>Quiz</a:t>
            </a:r>
            <a:endParaRPr lang="en-IN" sz="36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3133" y="1524000"/>
            <a:ext cx="10294467" cy="4985980"/>
          </a:xfrm>
        </p:spPr>
        <p:txBody>
          <a:bodyPr/>
          <a:lstStyle/>
          <a:p>
            <a:r>
              <a:rPr lang="en-IN" sz="1800" dirty="0"/>
              <a:t>#include &lt;</a:t>
            </a:r>
            <a:r>
              <a:rPr lang="en-IN" sz="1800" dirty="0" err="1"/>
              <a:t>stdio.h</a:t>
            </a:r>
            <a:r>
              <a:rPr lang="en-IN" sz="1800" dirty="0"/>
              <a:t>&gt;</a:t>
            </a:r>
          </a:p>
          <a:p>
            <a:r>
              <a:rPr lang="en-IN" sz="1800" dirty="0"/>
              <a:t>#include &lt;</a:t>
            </a:r>
            <a:r>
              <a:rPr lang="en-IN" sz="1800" dirty="0" err="1"/>
              <a:t>omp.h</a:t>
            </a:r>
            <a:r>
              <a:rPr lang="en-IN" sz="1800" dirty="0"/>
              <a:t>&gt;</a:t>
            </a:r>
          </a:p>
          <a:p>
            <a:r>
              <a:rPr lang="en-IN" sz="1800" dirty="0"/>
              <a:t>void main()</a:t>
            </a:r>
          </a:p>
          <a:p>
            <a:r>
              <a:rPr lang="en-IN" sz="1800" dirty="0"/>
              <a:t>{</a:t>
            </a:r>
          </a:p>
          <a:p>
            <a:r>
              <a:rPr lang="en-IN" sz="1800" dirty="0" err="1"/>
              <a:t>int</a:t>
            </a:r>
            <a:r>
              <a:rPr lang="en-IN" sz="1800" dirty="0"/>
              <a:t> </a:t>
            </a:r>
            <a:r>
              <a:rPr lang="en-IN" sz="1800" dirty="0" err="1"/>
              <a:t>i,j</a:t>
            </a:r>
            <a:r>
              <a:rPr lang="en-IN" sz="1800" dirty="0"/>
              <a:t>;</a:t>
            </a:r>
          </a:p>
          <a:p>
            <a:r>
              <a:rPr lang="en-IN" sz="1800" dirty="0" err="1"/>
              <a:t>omp_set_num_threads</a:t>
            </a:r>
            <a:r>
              <a:rPr lang="en-IN" sz="1800" dirty="0"/>
              <a:t>(100);</a:t>
            </a:r>
          </a:p>
          <a:p>
            <a:r>
              <a:rPr lang="en-IN" sz="1800" dirty="0"/>
              <a:t>#pragma </a:t>
            </a:r>
            <a:r>
              <a:rPr lang="en-IN" sz="1800" dirty="0" err="1"/>
              <a:t>omp</a:t>
            </a:r>
            <a:r>
              <a:rPr lang="en-IN" sz="1800" dirty="0"/>
              <a:t> parallel</a:t>
            </a:r>
          </a:p>
          <a:p>
            <a:r>
              <a:rPr lang="en-IN" sz="1800" dirty="0"/>
              <a:t>{</a:t>
            </a:r>
          </a:p>
          <a:p>
            <a:endParaRPr lang="en-IN" sz="1800" dirty="0"/>
          </a:p>
          <a:p>
            <a:r>
              <a:rPr lang="en-IN" sz="1800" dirty="0"/>
              <a:t>            </a:t>
            </a:r>
            <a:r>
              <a:rPr lang="en-IN" sz="1800" dirty="0" err="1"/>
              <a:t>i</a:t>
            </a:r>
            <a:r>
              <a:rPr lang="en-IN" sz="1800" dirty="0"/>
              <a:t>=</a:t>
            </a:r>
            <a:r>
              <a:rPr lang="en-IN" sz="1800" dirty="0" err="1"/>
              <a:t>omp_get_num_threads</a:t>
            </a:r>
            <a:r>
              <a:rPr lang="en-IN" sz="1800" dirty="0"/>
              <a:t>();</a:t>
            </a:r>
          </a:p>
          <a:p>
            <a:r>
              <a:rPr lang="en-IN" sz="1800" dirty="0"/>
              <a:t>            j=</a:t>
            </a:r>
            <a:r>
              <a:rPr lang="en-IN" sz="1800" dirty="0" err="1"/>
              <a:t>omp_get_max_threads</a:t>
            </a:r>
            <a:r>
              <a:rPr lang="en-IN" sz="1800" dirty="0"/>
              <a:t>();</a:t>
            </a:r>
          </a:p>
          <a:p>
            <a:r>
              <a:rPr lang="en-IN" sz="1800" dirty="0"/>
              <a:t>            if(2==</a:t>
            </a:r>
            <a:r>
              <a:rPr lang="en-IN" sz="1800" dirty="0" err="1"/>
              <a:t>omp_get_thread_num</a:t>
            </a:r>
            <a:r>
              <a:rPr lang="en-IN" sz="1800" dirty="0"/>
              <a:t>())</a:t>
            </a:r>
          </a:p>
          <a:p>
            <a:r>
              <a:rPr lang="en-IN" sz="1800" dirty="0"/>
              <a:t>            {</a:t>
            </a:r>
          </a:p>
          <a:p>
            <a:r>
              <a:rPr lang="en-IN" sz="1800" dirty="0"/>
              <a:t>               </a:t>
            </a:r>
            <a:r>
              <a:rPr lang="en-IN" sz="1800" dirty="0" err="1"/>
              <a:t>printf</a:t>
            </a:r>
            <a:r>
              <a:rPr lang="en-IN" sz="1800" dirty="0"/>
              <a:t>("</a:t>
            </a:r>
            <a:r>
              <a:rPr lang="en-IN" sz="1800" dirty="0" err="1"/>
              <a:t>num</a:t>
            </a:r>
            <a:r>
              <a:rPr lang="en-IN" sz="1800" dirty="0"/>
              <a:t> </a:t>
            </a:r>
            <a:r>
              <a:rPr lang="en-IN" sz="1800" dirty="0" err="1"/>
              <a:t>threds</a:t>
            </a:r>
            <a:r>
              <a:rPr lang="en-IN" sz="1800" dirty="0"/>
              <a:t>\</a:t>
            </a:r>
            <a:r>
              <a:rPr lang="en-IN" sz="1800" dirty="0" err="1"/>
              <a:t>n%d</a:t>
            </a:r>
            <a:r>
              <a:rPr lang="en-IN" sz="1800" dirty="0"/>
              <a:t>\</a:t>
            </a:r>
            <a:r>
              <a:rPr lang="en-IN" sz="1800" dirty="0" err="1"/>
              <a:t>n%d</a:t>
            </a:r>
            <a:r>
              <a:rPr lang="en-IN" sz="1800" dirty="0"/>
              <a:t>",</a:t>
            </a:r>
            <a:r>
              <a:rPr lang="en-IN" sz="1800" dirty="0" err="1"/>
              <a:t>i,j</a:t>
            </a:r>
            <a:r>
              <a:rPr lang="en-IN" sz="1800" dirty="0"/>
              <a:t>);</a:t>
            </a:r>
          </a:p>
          <a:p>
            <a:r>
              <a:rPr lang="en-IN" sz="1800" dirty="0"/>
              <a:t>            }</a:t>
            </a:r>
          </a:p>
          <a:p>
            <a:r>
              <a:rPr lang="en-IN" sz="1800" dirty="0"/>
              <a:t>}</a:t>
            </a:r>
          </a:p>
          <a:p>
            <a:endParaRPr lang="en-IN" sz="1800" dirty="0"/>
          </a:p>
          <a:p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196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20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/>
              <a:t>Critical</a:t>
            </a:r>
            <a:r>
              <a:rPr sz="4400" b="1" spc="-140" dirty="0"/>
              <a:t> </a:t>
            </a:r>
            <a:r>
              <a:rPr sz="4400" b="1" spc="-40" dirty="0"/>
              <a:t>Directive</a:t>
            </a:r>
            <a:endParaRPr sz="44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488930" cy="41605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CRITICAL </a:t>
            </a:r>
            <a:r>
              <a:rPr sz="2800" spc="-15" dirty="0">
                <a:latin typeface="Calibri"/>
                <a:cs typeface="Calibri"/>
              </a:rPr>
              <a:t>directive </a:t>
            </a:r>
            <a:r>
              <a:rPr sz="2800" spc="-10" dirty="0">
                <a:latin typeface="Calibri"/>
                <a:cs typeface="Calibri"/>
              </a:rPr>
              <a:t>specifies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code that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i="1" spc="-25" dirty="0">
                <a:solidFill>
                  <a:srgbClr val="00AF50"/>
                </a:solidFill>
                <a:latin typeface="Calibri"/>
                <a:cs typeface="Calibri"/>
              </a:rPr>
              <a:t>executed  </a:t>
            </a:r>
            <a:r>
              <a:rPr sz="2800" i="1" spc="-5" dirty="0">
                <a:solidFill>
                  <a:srgbClr val="00AF50"/>
                </a:solidFill>
                <a:latin typeface="Calibri"/>
                <a:cs typeface="Calibri"/>
              </a:rPr>
              <a:t>by only one thread at a</a:t>
            </a:r>
            <a:r>
              <a:rPr sz="2800" i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AF50"/>
                </a:solidFill>
                <a:latin typeface="Calibri"/>
                <a:cs typeface="Calibri"/>
              </a:rPr>
              <a:t>time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150" dirty="0">
              <a:latin typeface="Times New Roman"/>
              <a:cs typeface="Times New Roman"/>
            </a:endParaRPr>
          </a:p>
          <a:p>
            <a:pPr marL="1750060">
              <a:lnSpc>
                <a:spcPct val="100000"/>
              </a:lnSpc>
            </a:pPr>
            <a:r>
              <a:rPr sz="2800" b="0" spc="-30" dirty="0">
                <a:latin typeface="Calibri Light"/>
                <a:cs typeface="Calibri Light"/>
              </a:rPr>
              <a:t>#pragma </a:t>
            </a:r>
            <a:r>
              <a:rPr sz="2800" b="0" spc="-20" dirty="0">
                <a:latin typeface="Calibri Light"/>
                <a:cs typeface="Calibri Light"/>
              </a:rPr>
              <a:t>omp </a:t>
            </a:r>
            <a:r>
              <a:rPr sz="2800" b="0" spc="-15" dirty="0">
                <a:latin typeface="Calibri Light"/>
                <a:cs typeface="Calibri Light"/>
              </a:rPr>
              <a:t>critical </a:t>
            </a:r>
            <a:r>
              <a:rPr sz="2800" b="0" i="1" spc="-5" dirty="0">
                <a:latin typeface="Calibri Light"/>
                <a:cs typeface="Calibri Light"/>
              </a:rPr>
              <a:t>[ </a:t>
            </a:r>
            <a:r>
              <a:rPr sz="2800" b="0" i="1" spc="-30" dirty="0">
                <a:latin typeface="Calibri Light"/>
                <a:cs typeface="Calibri Light"/>
              </a:rPr>
              <a:t>name </a:t>
            </a:r>
            <a:r>
              <a:rPr sz="2800" b="0" i="1" spc="-5" dirty="0">
                <a:latin typeface="Calibri Light"/>
                <a:cs typeface="Calibri Light"/>
              </a:rPr>
              <a:t>]</a:t>
            </a:r>
            <a:r>
              <a:rPr sz="2800" b="0" i="1" spc="-180" dirty="0">
                <a:latin typeface="Calibri Light"/>
                <a:cs typeface="Calibri Light"/>
              </a:rPr>
              <a:t> </a:t>
            </a:r>
            <a:r>
              <a:rPr sz="2800" b="0" i="1" spc="-20" dirty="0">
                <a:latin typeface="Calibri Light"/>
                <a:cs typeface="Calibri Light"/>
              </a:rPr>
              <a:t>newline</a:t>
            </a:r>
            <a:endParaRPr sz="2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750060">
              <a:lnSpc>
                <a:spcPct val="100000"/>
              </a:lnSpc>
            </a:pPr>
            <a:r>
              <a:rPr sz="2800" b="0" i="1" spc="-25" dirty="0">
                <a:latin typeface="Calibri Light"/>
                <a:cs typeface="Calibri Light"/>
              </a:rPr>
              <a:t>structured_block</a:t>
            </a:r>
            <a:endParaRPr sz="28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 dirty="0">
              <a:latin typeface="Times New Roman"/>
              <a:cs typeface="Times New Roman"/>
            </a:endParaRPr>
          </a:p>
          <a:p>
            <a:pPr marL="241300" marR="195580" indent="-228600" algn="just">
              <a:lnSpc>
                <a:spcPct val="9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10" dirty="0">
                <a:latin typeface="Calibri"/>
                <a:cs typeface="Calibri"/>
              </a:rPr>
              <a:t>thread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currently </a:t>
            </a:r>
            <a:r>
              <a:rPr sz="2800" spc="-20" dirty="0">
                <a:latin typeface="Calibri"/>
                <a:cs typeface="Calibri"/>
              </a:rPr>
              <a:t>executing </a:t>
            </a:r>
            <a:r>
              <a:rPr sz="2800" spc="-10" dirty="0">
                <a:latin typeface="Calibri"/>
                <a:cs typeface="Calibri"/>
              </a:rPr>
              <a:t>inside </a:t>
            </a:r>
            <a:r>
              <a:rPr sz="2800" spc="-5" dirty="0">
                <a:latin typeface="Calibri"/>
                <a:cs typeface="Calibri"/>
              </a:rPr>
              <a:t>a CRITICAL </a:t>
            </a:r>
            <a:r>
              <a:rPr sz="2800" spc="-10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and another  </a:t>
            </a:r>
            <a:r>
              <a:rPr sz="2800" spc="-10" dirty="0">
                <a:latin typeface="Calibri"/>
                <a:cs typeface="Calibri"/>
              </a:rPr>
              <a:t>thread reaches that </a:t>
            </a:r>
            <a:r>
              <a:rPr sz="2800" spc="-5" dirty="0">
                <a:latin typeface="Calibri"/>
                <a:cs typeface="Calibri"/>
              </a:rPr>
              <a:t>CRITICAL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attempts to </a:t>
            </a:r>
            <a:r>
              <a:rPr sz="2800" spc="-25" dirty="0">
                <a:latin typeface="Calibri"/>
                <a:cs typeface="Calibri"/>
              </a:rPr>
              <a:t>execute </a:t>
            </a:r>
            <a:r>
              <a:rPr sz="2800" spc="-5" dirty="0">
                <a:latin typeface="Calibri"/>
                <a:cs typeface="Calibri"/>
              </a:rPr>
              <a:t>it, it </a:t>
            </a:r>
            <a:r>
              <a:rPr sz="2800" spc="-10" dirty="0">
                <a:latin typeface="Calibri"/>
                <a:cs typeface="Calibri"/>
              </a:rPr>
              <a:t>will  </a:t>
            </a:r>
            <a:r>
              <a:rPr sz="2800" spc="-5" dirty="0">
                <a:latin typeface="Calibri"/>
                <a:cs typeface="Calibri"/>
              </a:rPr>
              <a:t>block </a:t>
            </a:r>
            <a:r>
              <a:rPr sz="2800" spc="-10" dirty="0">
                <a:latin typeface="Calibri"/>
                <a:cs typeface="Calibri"/>
              </a:rPr>
              <a:t>until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first </a:t>
            </a:r>
            <a:r>
              <a:rPr sz="2800" spc="-10" dirty="0">
                <a:latin typeface="Calibri"/>
                <a:cs typeface="Calibri"/>
              </a:rPr>
              <a:t>thread </a:t>
            </a:r>
            <a:r>
              <a:rPr sz="2800" spc="-15" dirty="0">
                <a:latin typeface="Calibri"/>
                <a:cs typeface="Calibri"/>
              </a:rPr>
              <a:t>exits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CRITICAL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region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20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000000"/>
                </a:solidFill>
              </a:rPr>
              <a:t>Critical</a:t>
            </a:r>
            <a:r>
              <a:rPr sz="4400" b="1" spc="-140" dirty="0">
                <a:solidFill>
                  <a:srgbClr val="000000"/>
                </a:solidFill>
              </a:rPr>
              <a:t> </a:t>
            </a:r>
            <a:r>
              <a:rPr sz="4400" b="1" spc="-40" dirty="0">
                <a:solidFill>
                  <a:srgbClr val="000000"/>
                </a:solidFill>
              </a:rPr>
              <a:t>Directive</a:t>
            </a:r>
            <a:endParaRPr sz="44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825355" cy="3304751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6700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optional </a:t>
            </a:r>
            <a:r>
              <a:rPr sz="2800" spc="-10" dirty="0">
                <a:latin typeface="Calibri"/>
                <a:cs typeface="Calibri"/>
              </a:rPr>
              <a:t>name </a:t>
            </a:r>
            <a:r>
              <a:rPr sz="2800" spc="-5" dirty="0">
                <a:latin typeface="Calibri"/>
                <a:cs typeface="Calibri"/>
              </a:rPr>
              <a:t>enables multiple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5" dirty="0">
                <a:latin typeface="Calibri"/>
                <a:cs typeface="Calibri"/>
              </a:rPr>
              <a:t>CRITICAL </a:t>
            </a:r>
            <a:r>
              <a:rPr sz="2800" spc="-10" dirty="0">
                <a:latin typeface="Calibri"/>
                <a:cs typeface="Calibri"/>
              </a:rPr>
              <a:t>regions </a:t>
            </a:r>
            <a:r>
              <a:rPr sz="2800" spc="-20" dirty="0">
                <a:latin typeface="Calibri"/>
                <a:cs typeface="Calibri"/>
              </a:rPr>
              <a:t>to  exist: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65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Names act as </a:t>
            </a:r>
            <a:r>
              <a:rPr sz="2400" spc="-5" dirty="0">
                <a:latin typeface="Calibri"/>
                <a:cs typeface="Calibri"/>
              </a:rPr>
              <a:t>global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identifiers.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Different </a:t>
            </a:r>
            <a:r>
              <a:rPr sz="2400" spc="-5" dirty="0">
                <a:latin typeface="Calibri"/>
                <a:cs typeface="Calibri"/>
              </a:rPr>
              <a:t>CRITICAL </a:t>
            </a:r>
            <a:r>
              <a:rPr sz="2400" spc="-10" dirty="0">
                <a:latin typeface="Calibri"/>
                <a:cs typeface="Calibri"/>
              </a:rPr>
              <a:t>regions </a:t>
            </a:r>
            <a:r>
              <a:rPr sz="2400" spc="-5" dirty="0">
                <a:latin typeface="Calibri"/>
                <a:cs typeface="Calibri"/>
              </a:rPr>
              <a:t>with the same name </a:t>
            </a:r>
            <a:r>
              <a:rPr sz="2400" spc="-15" dirty="0">
                <a:latin typeface="Calibri"/>
                <a:cs typeface="Calibri"/>
              </a:rPr>
              <a:t>are treated </a:t>
            </a:r>
            <a:r>
              <a:rPr sz="2400" dirty="0">
                <a:latin typeface="Calibri"/>
                <a:cs typeface="Calibri"/>
              </a:rPr>
              <a:t>as the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5" dirty="0">
                <a:latin typeface="Calibri"/>
                <a:cs typeface="Calibri"/>
              </a:rPr>
              <a:t>region.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CRITICAL sections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unnamed,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15" dirty="0">
                <a:latin typeface="Calibri"/>
                <a:cs typeface="Calibri"/>
              </a:rPr>
              <a:t>treated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section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45186"/>
            <a:ext cx="5595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>
                <a:solidFill>
                  <a:srgbClr val="000000"/>
                </a:solidFill>
              </a:rPr>
              <a:t>Critical </a:t>
            </a:r>
            <a:r>
              <a:rPr sz="4400" spc="-40" dirty="0">
                <a:solidFill>
                  <a:srgbClr val="000000"/>
                </a:solidFill>
              </a:rPr>
              <a:t>Directive</a:t>
            </a:r>
            <a:r>
              <a:rPr sz="4400" spc="-190" dirty="0">
                <a:solidFill>
                  <a:srgbClr val="000000"/>
                </a:solidFill>
              </a:rPr>
              <a:t> </a:t>
            </a:r>
            <a:r>
              <a:rPr sz="4400" spc="-55" dirty="0">
                <a:solidFill>
                  <a:srgbClr val="000000"/>
                </a:solidFill>
              </a:rPr>
              <a:t>example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827722" y="1382220"/>
            <a:ext cx="5627717" cy="5272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10236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6096000"/>
            <a:ext cx="1752600" cy="609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09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4050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imes New Roman"/>
                <a:cs typeface="Times New Roman"/>
              </a:rPr>
              <a:t>Atomic</a:t>
            </a:r>
            <a:r>
              <a:rPr sz="4400" b="1" spc="-204" dirty="0">
                <a:latin typeface="Times New Roman"/>
                <a:cs typeface="Times New Roman"/>
              </a:rPr>
              <a:t> </a:t>
            </a:r>
            <a:r>
              <a:rPr sz="4400" b="1" spc="-10" dirty="0">
                <a:latin typeface="Times New Roman"/>
                <a:cs typeface="Times New Roman"/>
              </a:rPr>
              <a:t>Directive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60025" cy="4665893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 algn="just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b="1" spc="-5" dirty="0">
                <a:latin typeface="Calibri"/>
                <a:cs typeface="Calibri"/>
              </a:rPr>
              <a:t>omp </a:t>
            </a:r>
            <a:r>
              <a:rPr sz="2800" b="1" spc="-10" dirty="0">
                <a:latin typeface="Calibri"/>
                <a:cs typeface="Calibri"/>
              </a:rPr>
              <a:t>atomic </a:t>
            </a:r>
            <a:r>
              <a:rPr sz="2800" spc="-10" dirty="0">
                <a:latin typeface="Calibri"/>
                <a:cs typeface="Calibri"/>
              </a:rPr>
              <a:t>directive </a:t>
            </a:r>
            <a:r>
              <a:rPr sz="2800" spc="-15" dirty="0">
                <a:latin typeface="Calibri"/>
                <a:cs typeface="Calibri"/>
              </a:rPr>
              <a:t>allows </a:t>
            </a:r>
            <a:r>
              <a:rPr sz="2800" spc="-5" dirty="0">
                <a:latin typeface="Calibri"/>
                <a:cs typeface="Calibri"/>
              </a:rPr>
              <a:t>access of a </a:t>
            </a:r>
            <a:r>
              <a:rPr sz="2800" spc="-10" dirty="0">
                <a:latin typeface="Calibri"/>
                <a:cs typeface="Calibri"/>
              </a:rPr>
              <a:t>specific </a:t>
            </a:r>
            <a:r>
              <a:rPr sz="2800" spc="-5" dirty="0">
                <a:latin typeface="Calibri"/>
                <a:cs typeface="Calibri"/>
              </a:rPr>
              <a:t>memory </a:t>
            </a:r>
            <a:r>
              <a:rPr sz="2800" spc="-10" dirty="0">
                <a:latin typeface="Calibri"/>
                <a:cs typeface="Calibri"/>
              </a:rPr>
              <a:t>location  </a:t>
            </a:r>
            <a:r>
              <a:rPr sz="2800" spc="-30" dirty="0" smtClean="0">
                <a:latin typeface="Calibri"/>
                <a:cs typeface="Calibri"/>
              </a:rPr>
              <a:t>atomically</a:t>
            </a:r>
            <a:r>
              <a:rPr lang="en-IN" sz="2800" spc="-30" dirty="0" smtClean="0">
                <a:latin typeface="Calibri"/>
                <a:cs typeface="Calibri"/>
              </a:rPr>
              <a:t> </a:t>
            </a:r>
            <a:r>
              <a:rPr lang="en-US" sz="2800" dirty="0"/>
              <a:t>instead of exposing the location to the possibility of multiple, simultaneously writing </a:t>
            </a:r>
            <a:r>
              <a:rPr lang="en-US" sz="2800" dirty="0" smtClean="0"/>
              <a:t>threads</a:t>
            </a:r>
            <a:r>
              <a:rPr sz="2800" spc="-30" dirty="0" smtClean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350" indent="-228600" algn="just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ensures that </a:t>
            </a:r>
            <a:r>
              <a:rPr sz="2800" spc="-20" dirty="0">
                <a:latin typeface="Calibri"/>
                <a:cs typeface="Calibri"/>
              </a:rPr>
              <a:t>race </a:t>
            </a:r>
            <a:r>
              <a:rPr sz="2800" spc="-5" dirty="0">
                <a:latin typeface="Calibri"/>
                <a:cs typeface="Calibri"/>
              </a:rPr>
              <a:t>conditions </a:t>
            </a:r>
            <a:r>
              <a:rPr sz="2800" spc="-20" dirty="0">
                <a:latin typeface="Calibri"/>
                <a:cs typeface="Calibri"/>
              </a:rPr>
              <a:t>are avoided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15" dirty="0">
                <a:latin typeface="Calibri"/>
                <a:cs typeface="Calibri"/>
              </a:rPr>
              <a:t>direct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of  </a:t>
            </a:r>
            <a:r>
              <a:rPr sz="2800" spc="-15" dirty="0">
                <a:latin typeface="Calibri"/>
                <a:cs typeface="Calibri"/>
              </a:rPr>
              <a:t>concurrent </a:t>
            </a:r>
            <a:r>
              <a:rPr sz="2800" spc="-10" dirty="0">
                <a:latin typeface="Calibri"/>
                <a:cs typeface="Calibri"/>
              </a:rPr>
              <a:t>threads that might </a:t>
            </a:r>
            <a:r>
              <a:rPr sz="2800" spc="-15" dirty="0">
                <a:latin typeface="Calibri"/>
                <a:cs typeface="Calibri"/>
              </a:rPr>
              <a:t>read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write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particular  memory </a:t>
            </a:r>
            <a:r>
              <a:rPr sz="2800" spc="-10" dirty="0">
                <a:latin typeface="Calibri"/>
                <a:cs typeface="Calibri"/>
              </a:rPr>
              <a:t>location.</a:t>
            </a:r>
            <a:endParaRPr sz="2800" dirty="0">
              <a:latin typeface="Calibri"/>
              <a:cs typeface="Calibri"/>
            </a:endParaRPr>
          </a:p>
          <a:p>
            <a:pPr marL="3261360">
              <a:lnSpc>
                <a:spcPts val="2500"/>
              </a:lnSpc>
            </a:pPr>
            <a:r>
              <a:rPr sz="2400" b="1" spc="-10" dirty="0">
                <a:latin typeface="Calibri"/>
                <a:cs typeface="Calibri"/>
              </a:rPr>
              <a:t>#pragma </a:t>
            </a:r>
            <a:r>
              <a:rPr sz="2400" b="1" dirty="0">
                <a:latin typeface="Calibri"/>
                <a:cs typeface="Calibri"/>
              </a:rPr>
              <a:t>omp </a:t>
            </a:r>
            <a:r>
              <a:rPr sz="2400" b="1" spc="-10" dirty="0">
                <a:latin typeface="Calibri"/>
                <a:cs typeface="Calibri"/>
              </a:rPr>
              <a:t>atomic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newline</a:t>
            </a:r>
            <a:endParaRPr sz="2400" dirty="0">
              <a:latin typeface="Calibri"/>
              <a:cs typeface="Calibri"/>
            </a:endParaRPr>
          </a:p>
          <a:p>
            <a:pPr marL="4490085" marR="4968875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read  write  </a:t>
            </a:r>
            <a:r>
              <a:rPr sz="2400" b="1" dirty="0">
                <a:latin typeface="Calibri"/>
                <a:cs typeface="Calibri"/>
              </a:rPr>
              <a:t>u</a:t>
            </a:r>
            <a:r>
              <a:rPr sz="2400" b="1" spc="-10" dirty="0">
                <a:latin typeface="Calibri"/>
                <a:cs typeface="Calibri"/>
              </a:rPr>
              <a:t>p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30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3261360">
              <a:lnSpc>
                <a:spcPct val="100000"/>
              </a:lnSpc>
            </a:pPr>
            <a:r>
              <a:rPr sz="2400" b="1" i="1" spc="-15" dirty="0">
                <a:latin typeface="Calibri"/>
                <a:cs typeface="Calibri"/>
              </a:rPr>
              <a:t>statement_expression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0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Permits </a:t>
            </a:r>
            <a:r>
              <a:rPr sz="2800" spc="-20" dirty="0">
                <a:latin typeface="Calibri"/>
                <a:cs typeface="Calibri"/>
              </a:rPr>
              <a:t>better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optimization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8889"/>
          <a:stretch/>
        </p:blipFill>
        <p:spPr>
          <a:xfrm>
            <a:off x="1523999" y="0"/>
            <a:ext cx="981307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4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10439400" cy="4801314"/>
          </a:xfrm>
        </p:spPr>
        <p:txBody>
          <a:bodyPr/>
          <a:lstStyle/>
          <a:p>
            <a:r>
              <a:rPr lang="en-IN" dirty="0" smtClean="0"/>
              <a:t>#</a:t>
            </a:r>
            <a:r>
              <a:rPr lang="en-IN" dirty="0"/>
              <a:t>include &lt;</a:t>
            </a:r>
            <a:r>
              <a:rPr lang="en-IN" dirty="0" err="1"/>
              <a:t>stdio.h</a:t>
            </a:r>
            <a:r>
              <a:rPr lang="en-IN" dirty="0" smtClean="0"/>
              <a:t>&gt;</a:t>
            </a:r>
          </a:p>
          <a:p>
            <a:r>
              <a:rPr lang="en-IN" dirty="0" smtClean="0"/>
              <a:t> </a:t>
            </a:r>
            <a:r>
              <a:rPr lang="en-IN" dirty="0"/>
              <a:t>#include &lt;</a:t>
            </a:r>
            <a:r>
              <a:rPr lang="en-IN" dirty="0" err="1"/>
              <a:t>omp.h</a:t>
            </a:r>
            <a:r>
              <a:rPr lang="en-IN" dirty="0" smtClean="0"/>
              <a:t>&gt;</a:t>
            </a:r>
          </a:p>
          <a:p>
            <a:r>
              <a:rPr lang="en-IN" dirty="0" smtClean="0"/>
              <a:t> </a:t>
            </a:r>
            <a:r>
              <a:rPr lang="en-IN" dirty="0"/>
              <a:t>#define MAX 10 </a:t>
            </a:r>
            <a:endParaRPr lang="en-IN" dirty="0" smtClean="0"/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 </a:t>
            </a:r>
            <a:endParaRPr lang="en-IN" dirty="0" smtClean="0"/>
          </a:p>
          <a:p>
            <a:r>
              <a:rPr lang="en-IN" dirty="0" smtClean="0"/>
              <a:t>{ 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count = 0; </a:t>
            </a:r>
            <a:endParaRPr lang="en-IN" dirty="0" smtClean="0"/>
          </a:p>
          <a:p>
            <a:r>
              <a:rPr lang="en-IN" dirty="0" smtClean="0"/>
              <a:t>#</a:t>
            </a:r>
            <a:r>
              <a:rPr lang="en-IN" dirty="0"/>
              <a:t>pragma </a:t>
            </a:r>
            <a:r>
              <a:rPr lang="en-IN" dirty="0" err="1"/>
              <a:t>omp</a:t>
            </a:r>
            <a:r>
              <a:rPr lang="en-IN" dirty="0"/>
              <a:t> parallel </a:t>
            </a:r>
            <a:r>
              <a:rPr lang="en-IN" dirty="0" err="1"/>
              <a:t>num_threads</a:t>
            </a:r>
            <a:r>
              <a:rPr lang="en-IN" dirty="0"/>
              <a:t>(MAX</a:t>
            </a:r>
            <a:r>
              <a:rPr lang="en-IN" dirty="0" smtClean="0"/>
              <a:t>)</a:t>
            </a:r>
          </a:p>
          <a:p>
            <a:r>
              <a:rPr lang="en-IN" dirty="0" smtClean="0"/>
              <a:t> </a:t>
            </a:r>
            <a:r>
              <a:rPr lang="en-IN" dirty="0"/>
              <a:t>{ </a:t>
            </a:r>
            <a:endParaRPr lang="en-IN" dirty="0" smtClean="0"/>
          </a:p>
          <a:p>
            <a:r>
              <a:rPr lang="en-IN" dirty="0" smtClean="0"/>
              <a:t>#</a:t>
            </a:r>
            <a:r>
              <a:rPr lang="en-IN" dirty="0"/>
              <a:t>pragma </a:t>
            </a:r>
            <a:r>
              <a:rPr lang="en-IN" dirty="0" err="1"/>
              <a:t>omp</a:t>
            </a:r>
            <a:r>
              <a:rPr lang="en-IN" dirty="0"/>
              <a:t> atomic </a:t>
            </a:r>
            <a:endParaRPr lang="en-IN" dirty="0" smtClean="0"/>
          </a:p>
          <a:p>
            <a:r>
              <a:rPr lang="en-IN" dirty="0" smtClean="0"/>
              <a:t>count++;</a:t>
            </a:r>
          </a:p>
          <a:p>
            <a:r>
              <a:rPr lang="en-IN" dirty="0" smtClean="0"/>
              <a:t> </a:t>
            </a:r>
            <a:r>
              <a:rPr lang="en-IN" dirty="0"/>
              <a:t>} </a:t>
            </a:r>
            <a:endParaRPr lang="en-IN" dirty="0" smtClean="0"/>
          </a:p>
          <a:p>
            <a:r>
              <a:rPr lang="en-IN" dirty="0" err="1" smtClean="0"/>
              <a:t>printf</a:t>
            </a:r>
            <a:r>
              <a:rPr lang="en-IN" dirty="0" smtClean="0"/>
              <a:t>("</a:t>
            </a:r>
            <a:r>
              <a:rPr lang="en-IN" dirty="0"/>
              <a:t>Number of threads: %d\n", count</a:t>
            </a:r>
            <a:r>
              <a:rPr lang="en-IN" dirty="0" smtClean="0"/>
              <a:t>);</a:t>
            </a:r>
          </a:p>
          <a:p>
            <a:r>
              <a:rPr lang="en-IN" dirty="0" smtClean="0"/>
              <a:t> 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943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3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864" y="82677"/>
            <a:ext cx="3766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000000"/>
                </a:solidFill>
                <a:latin typeface="Calibri"/>
                <a:cs typeface="Calibri"/>
              </a:rPr>
              <a:t>Ordered</a:t>
            </a:r>
            <a:r>
              <a:rPr sz="4000" b="1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0000"/>
                </a:solidFill>
                <a:latin typeface="Calibri"/>
                <a:cs typeface="Calibri"/>
              </a:rPr>
              <a:t>Directive</a:t>
            </a:r>
            <a:endParaRPr sz="40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993724"/>
            <a:ext cx="10187940" cy="27539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191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specifies that </a:t>
            </a:r>
            <a:r>
              <a:rPr sz="2800" i="1" spc="-10" dirty="0">
                <a:solidFill>
                  <a:srgbClr val="00AF50"/>
                </a:solidFill>
                <a:latin typeface="Calibri"/>
                <a:cs typeface="Calibri"/>
              </a:rPr>
              <a:t>iterations </a:t>
            </a:r>
            <a:r>
              <a:rPr sz="2800" i="1" spc="-5" dirty="0">
                <a:solidFill>
                  <a:srgbClr val="00AF50"/>
                </a:solidFill>
                <a:latin typeface="Calibri"/>
                <a:cs typeface="Calibri"/>
              </a:rPr>
              <a:t>of the enclosed loop will be </a:t>
            </a:r>
            <a:r>
              <a:rPr sz="2800" i="1" spc="-25" dirty="0">
                <a:solidFill>
                  <a:srgbClr val="00AF50"/>
                </a:solidFill>
                <a:latin typeface="Calibri"/>
                <a:cs typeface="Calibri"/>
              </a:rPr>
              <a:t>executed </a:t>
            </a:r>
            <a:r>
              <a:rPr sz="2800" i="1" spc="-5" dirty="0">
                <a:solidFill>
                  <a:srgbClr val="00AF50"/>
                </a:solidFill>
                <a:latin typeface="Calibri"/>
                <a:cs typeface="Calibri"/>
              </a:rPr>
              <a:t>in the  same order as if they were </a:t>
            </a:r>
            <a:r>
              <a:rPr sz="2800" i="1" spc="-20" dirty="0">
                <a:solidFill>
                  <a:srgbClr val="00AF50"/>
                </a:solidFill>
                <a:latin typeface="Calibri"/>
                <a:cs typeface="Calibri"/>
              </a:rPr>
              <a:t>executed </a:t>
            </a:r>
            <a:r>
              <a:rPr sz="2800" i="1" spc="-5" dirty="0">
                <a:solidFill>
                  <a:srgbClr val="00AF50"/>
                </a:solidFill>
                <a:latin typeface="Calibri"/>
                <a:cs typeface="Calibri"/>
              </a:rPr>
              <a:t>on a </a:t>
            </a:r>
            <a:r>
              <a:rPr sz="2800" i="1" spc="-10" dirty="0">
                <a:solidFill>
                  <a:srgbClr val="00AF50"/>
                </a:solidFill>
                <a:latin typeface="Calibri"/>
                <a:cs typeface="Calibri"/>
              </a:rPr>
              <a:t>serial</a:t>
            </a:r>
            <a:r>
              <a:rPr sz="2800" i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i="1" spc="-5" dirty="0">
                <a:solidFill>
                  <a:srgbClr val="00AF50"/>
                </a:solidFill>
                <a:latin typeface="Calibri"/>
                <a:cs typeface="Calibri"/>
              </a:rPr>
              <a:t>processor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Threads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spc="-10" dirty="0">
                <a:latin typeface="Calibri"/>
                <a:cs typeface="Calibri"/>
              </a:rPr>
              <a:t>need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wait </a:t>
            </a:r>
            <a:r>
              <a:rPr sz="2800" spc="-30" dirty="0">
                <a:latin typeface="Calibri"/>
                <a:cs typeface="Calibri"/>
              </a:rPr>
              <a:t>before </a:t>
            </a:r>
            <a:r>
              <a:rPr sz="2800" spc="-20" dirty="0">
                <a:latin typeface="Calibri"/>
                <a:cs typeface="Calibri"/>
              </a:rPr>
              <a:t>executing </a:t>
            </a:r>
            <a:r>
              <a:rPr sz="2800" spc="-5" dirty="0">
                <a:latin typeface="Calibri"/>
                <a:cs typeface="Calibri"/>
              </a:rPr>
              <a:t>their chunk of </a:t>
            </a:r>
            <a:r>
              <a:rPr sz="2800" spc="-15" dirty="0">
                <a:latin typeface="Calibri"/>
                <a:cs typeface="Calibri"/>
              </a:rPr>
              <a:t>iterations </a:t>
            </a:r>
            <a:r>
              <a:rPr sz="2800" spc="-5" dirty="0">
                <a:latin typeface="Calibri"/>
                <a:cs typeface="Calibri"/>
              </a:rPr>
              <a:t>if  </a:t>
            </a:r>
            <a:r>
              <a:rPr sz="2800" spc="-15" dirty="0">
                <a:latin typeface="Calibri"/>
                <a:cs typeface="Calibri"/>
              </a:rPr>
              <a:t>previous iterations haven't completed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yet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Used within a </a:t>
            </a:r>
            <a:r>
              <a:rPr sz="2800" spc="-10" dirty="0">
                <a:latin typeface="Calibri"/>
                <a:cs typeface="Calibri"/>
              </a:rPr>
              <a:t>DO </a:t>
            </a:r>
            <a:r>
              <a:rPr sz="2800" spc="-5" dirty="0">
                <a:latin typeface="Calibri"/>
                <a:cs typeface="Calibri"/>
              </a:rPr>
              <a:t>/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loop with an ORDERED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clause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2602" y="4518152"/>
            <a:ext cx="39382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#pragma </a:t>
            </a:r>
            <a:r>
              <a:rPr sz="2000" b="1" dirty="0">
                <a:latin typeface="Calibri"/>
                <a:cs typeface="Calibri"/>
              </a:rPr>
              <a:t>omp </a:t>
            </a:r>
            <a:r>
              <a:rPr sz="2000" b="1" spc="-15" dirty="0">
                <a:latin typeface="Calibri"/>
                <a:cs typeface="Calibri"/>
              </a:rPr>
              <a:t>for </a:t>
            </a:r>
            <a:r>
              <a:rPr sz="2000" b="1" spc="-10" dirty="0">
                <a:latin typeface="Calibri"/>
                <a:cs typeface="Calibri"/>
              </a:rPr>
              <a:t>ordered </a:t>
            </a:r>
            <a:r>
              <a:rPr sz="2000" b="1" i="1" dirty="0">
                <a:latin typeface="Calibri"/>
                <a:cs typeface="Calibri"/>
              </a:rPr>
              <a:t>[clauses...]  (loop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region)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66802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bri"/>
                <a:cs typeface="Calibri"/>
              </a:rPr>
              <a:t>#pragma </a:t>
            </a:r>
            <a:r>
              <a:rPr sz="2000" b="1" dirty="0">
                <a:latin typeface="Calibri"/>
                <a:cs typeface="Calibri"/>
              </a:rPr>
              <a:t>omp </a:t>
            </a:r>
            <a:r>
              <a:rPr sz="2000" b="1" spc="-10" dirty="0">
                <a:latin typeface="Calibri"/>
                <a:cs typeface="Calibri"/>
              </a:rPr>
              <a:t>ordered </a:t>
            </a:r>
            <a:r>
              <a:rPr sz="2000" b="1" i="1" spc="-10" dirty="0">
                <a:latin typeface="Calibri"/>
                <a:cs typeface="Calibri"/>
              </a:rPr>
              <a:t>newline  </a:t>
            </a:r>
            <a:r>
              <a:rPr sz="2000" b="1" i="1" spc="-5" dirty="0">
                <a:latin typeface="Calibri"/>
                <a:cs typeface="Calibri"/>
              </a:rPr>
              <a:t>structured_block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Calibri"/>
                <a:cs typeface="Calibri"/>
              </a:rPr>
              <a:t>(endo of loop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region)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00400" y="1066800"/>
            <a:ext cx="6096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omp.h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 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    #pragma </a:t>
            </a:r>
            <a:r>
              <a:rPr lang="en-IN" dirty="0" err="1"/>
              <a:t>omp</a:t>
            </a:r>
            <a:r>
              <a:rPr lang="en-IN" dirty="0"/>
              <a:t> parallel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#pragma </a:t>
            </a:r>
            <a:r>
              <a:rPr lang="en-IN" dirty="0" err="1"/>
              <a:t>omp</a:t>
            </a:r>
            <a:r>
              <a:rPr lang="en-IN" dirty="0"/>
              <a:t> for </a:t>
            </a:r>
            <a:r>
              <a:rPr lang="en-IN" b="1" dirty="0"/>
              <a:t>ordered</a:t>
            </a:r>
          </a:p>
          <a:p>
            <a:r>
              <a:rPr lang="en-IN" dirty="0"/>
              <a:t>        for (</a:t>
            </a:r>
            <a:r>
              <a:rPr lang="en-IN" dirty="0" err="1"/>
              <a:t>i</a:t>
            </a:r>
            <a:r>
              <a:rPr lang="en-IN" dirty="0"/>
              <a:t> = 0 ; </a:t>
            </a:r>
            <a:r>
              <a:rPr lang="en-IN" dirty="0" err="1"/>
              <a:t>i</a:t>
            </a:r>
            <a:r>
              <a:rPr lang="en-IN" dirty="0"/>
              <a:t> &lt; 5 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 smtClean="0"/>
              <a:t>            test(</a:t>
            </a:r>
            <a:r>
              <a:rPr lang="en-IN" dirty="0" err="1" smtClean="0"/>
              <a:t>i</a:t>
            </a:r>
            <a:r>
              <a:rPr lang="en-IN" dirty="0" smtClean="0"/>
              <a:t>);</a:t>
            </a:r>
          </a:p>
          <a:p>
            <a:r>
              <a:rPr lang="en-IN" dirty="0" smtClean="0"/>
              <a:t>    }</a:t>
            </a:r>
          </a:p>
          <a:p>
            <a:r>
              <a:rPr lang="en-IN" dirty="0" smtClean="0"/>
              <a:t>}</a:t>
            </a:r>
            <a:endParaRPr lang="en-IN" dirty="0"/>
          </a:p>
          <a:p>
            <a:r>
              <a:rPr lang="en-IN" dirty="0"/>
              <a:t>void test(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iter</a:t>
            </a:r>
            <a:r>
              <a:rPr lang="en-IN" dirty="0"/>
              <a:t>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#pragma </a:t>
            </a:r>
            <a:r>
              <a:rPr lang="en-IN" dirty="0" err="1"/>
              <a:t>omp</a:t>
            </a:r>
            <a:r>
              <a:rPr lang="en-IN" dirty="0"/>
              <a:t> </a:t>
            </a:r>
            <a:r>
              <a:rPr lang="en-IN" b="1" dirty="0"/>
              <a:t>ordered</a:t>
            </a:r>
          </a:p>
          <a:p>
            <a:r>
              <a:rPr lang="en-IN" dirty="0"/>
              <a:t>    </a:t>
            </a:r>
            <a:r>
              <a:rPr lang="en-IN" dirty="0" err="1" smtClean="0"/>
              <a:t>printf</a:t>
            </a:r>
            <a:r>
              <a:rPr lang="en-IN" dirty="0" smtClean="0"/>
              <a:t>("</a:t>
            </a:r>
            <a:r>
              <a:rPr lang="en-IN" dirty="0"/>
              <a:t>test() iteration %d\n", </a:t>
            </a:r>
            <a:r>
              <a:rPr lang="en-IN" dirty="0" err="1"/>
              <a:t>iter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02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2139</TotalTime>
  <Words>893</Words>
  <Application>Microsoft Office PowerPoint</Application>
  <PresentationFormat>Widescreen</PresentationFormat>
  <Paragraphs>163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Synchronization Constructs</vt:lpstr>
      <vt:lpstr>Synchronization Constructs</vt:lpstr>
      <vt:lpstr>Synchronization Constructs</vt:lpstr>
      <vt:lpstr>Barrier Directive</vt:lpstr>
      <vt:lpstr>Example 1</vt:lpstr>
      <vt:lpstr>PowerPoint Presentation</vt:lpstr>
      <vt:lpstr>MASTER Directive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  <vt:lpstr>Critical Directive</vt:lpstr>
      <vt:lpstr>Critical Directive</vt:lpstr>
      <vt:lpstr>Critical Directive example</vt:lpstr>
      <vt:lpstr>PowerPoint Presentation</vt:lpstr>
      <vt:lpstr>Atomic Directive</vt:lpstr>
      <vt:lpstr>PowerPoint Presentation</vt:lpstr>
      <vt:lpstr>PowerPoint Presentation</vt:lpstr>
      <vt:lpstr>PowerPoint Presentation</vt:lpstr>
      <vt:lpstr>Ordered Directive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creator>Admin</dc:creator>
  <cp:lastModifiedBy>Admin</cp:lastModifiedBy>
  <cp:revision>26</cp:revision>
  <dcterms:created xsi:type="dcterms:W3CDTF">2020-08-19T16:09:04Z</dcterms:created>
  <dcterms:modified xsi:type="dcterms:W3CDTF">2022-02-22T13:51:36Z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2020-08-19T00:00:00Z</vt:filetime>
  </property>
</Properties>
</file>